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FF1EEF-D692-43BB-90DF-DFCED3FC6962}" v="13" dt="2026-03-20T16:11:14.0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p:scale>
          <a:sx n="66" d="100"/>
          <a:sy n="66" d="100"/>
        </p:scale>
        <p:origin x="672" y="9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chary carideo" userId="4d13a38ebda87edc" providerId="LiveId" clId="{2596B656-581E-4375-BC47-C180C01E607C}"/>
    <pc:docChg chg="undo custSel addSld delSld modSld">
      <pc:chgData name="zachary carideo" userId="4d13a38ebda87edc" providerId="LiveId" clId="{2596B656-581E-4375-BC47-C180C01E607C}" dt="2026-03-20T16:12:08.185" v="72" actId="1076"/>
      <pc:docMkLst>
        <pc:docMk/>
      </pc:docMkLst>
      <pc:sldChg chg="modSp mod">
        <pc:chgData name="zachary carideo" userId="4d13a38ebda87edc" providerId="LiveId" clId="{2596B656-581E-4375-BC47-C180C01E607C}" dt="2026-03-20T16:03:49.850" v="31" actId="14734"/>
        <pc:sldMkLst>
          <pc:docMk/>
          <pc:sldMk cId="1427147683" sldId="258"/>
        </pc:sldMkLst>
        <pc:graphicFrameChg chg="mod modGraphic">
          <ac:chgData name="zachary carideo" userId="4d13a38ebda87edc" providerId="LiveId" clId="{2596B656-581E-4375-BC47-C180C01E607C}" dt="2026-03-20T16:03:49.850" v="31" actId="14734"/>
          <ac:graphicFrameMkLst>
            <pc:docMk/>
            <pc:sldMk cId="1427147683" sldId="258"/>
            <ac:graphicFrameMk id="12" creationId="{D41050DD-4DB5-E9F0-9076-2322B4562E4D}"/>
          </ac:graphicFrameMkLst>
        </pc:graphicFrameChg>
      </pc:sldChg>
      <pc:sldChg chg="modSp mod">
        <pc:chgData name="zachary carideo" userId="4d13a38ebda87edc" providerId="LiveId" clId="{2596B656-581E-4375-BC47-C180C01E607C}" dt="2026-03-20T16:10:08.750" v="42" actId="1076"/>
        <pc:sldMkLst>
          <pc:docMk/>
          <pc:sldMk cId="418207274" sldId="259"/>
        </pc:sldMkLst>
        <pc:graphicFrameChg chg="mod modGraphic">
          <ac:chgData name="zachary carideo" userId="4d13a38ebda87edc" providerId="LiveId" clId="{2596B656-581E-4375-BC47-C180C01E607C}" dt="2026-03-20T16:10:08.750" v="42" actId="1076"/>
          <ac:graphicFrameMkLst>
            <pc:docMk/>
            <pc:sldMk cId="418207274" sldId="259"/>
            <ac:graphicFrameMk id="4" creationId="{D94613D2-B31D-43E5-0D30-805D6EF21196}"/>
          </ac:graphicFrameMkLst>
        </pc:graphicFrameChg>
      </pc:sldChg>
      <pc:sldChg chg="addSp delSp modSp mod">
        <pc:chgData name="zachary carideo" userId="4d13a38ebda87edc" providerId="LiveId" clId="{2596B656-581E-4375-BC47-C180C01E607C}" dt="2026-03-20T16:10:35.607" v="49" actId="1076"/>
        <pc:sldMkLst>
          <pc:docMk/>
          <pc:sldMk cId="548668450" sldId="260"/>
        </pc:sldMkLst>
        <pc:spChg chg="mod">
          <ac:chgData name="zachary carideo" userId="4d13a38ebda87edc" providerId="LiveId" clId="{2596B656-581E-4375-BC47-C180C01E607C}" dt="2026-03-20T14:33:59.678" v="16" actId="14100"/>
          <ac:spMkLst>
            <pc:docMk/>
            <pc:sldMk cId="548668450" sldId="260"/>
            <ac:spMk id="2" creationId="{39BBBB4D-C7FB-779D-6ACF-50D28EDDF2CF}"/>
          </ac:spMkLst>
        </pc:spChg>
        <pc:spChg chg="add mod">
          <ac:chgData name="zachary carideo" userId="4d13a38ebda87edc" providerId="LiveId" clId="{2596B656-581E-4375-BC47-C180C01E607C}" dt="2026-03-20T16:10:35.607" v="49" actId="1076"/>
          <ac:spMkLst>
            <pc:docMk/>
            <pc:sldMk cId="548668450" sldId="260"/>
            <ac:spMk id="9" creationId="{B45458FA-0838-075D-B92B-E69440933C47}"/>
          </ac:spMkLst>
        </pc:spChg>
        <pc:graphicFrameChg chg="add del mod modGraphic">
          <ac:chgData name="zachary carideo" userId="4d13a38ebda87edc" providerId="LiveId" clId="{2596B656-581E-4375-BC47-C180C01E607C}" dt="2026-03-20T16:10:19.412" v="45" actId="122"/>
          <ac:graphicFrameMkLst>
            <pc:docMk/>
            <pc:sldMk cId="548668450" sldId="260"/>
            <ac:graphicFrameMk id="7" creationId="{C4189919-78EA-464B-8774-1F6516951CD3}"/>
          </ac:graphicFrameMkLst>
        </pc:graphicFrameChg>
        <pc:graphicFrameChg chg="add mod">
          <ac:chgData name="zachary carideo" userId="4d13a38ebda87edc" providerId="LiveId" clId="{2596B656-581E-4375-BC47-C180C01E607C}" dt="2026-03-20T16:10:27.904" v="46"/>
          <ac:graphicFrameMkLst>
            <pc:docMk/>
            <pc:sldMk cId="548668450" sldId="260"/>
            <ac:graphicFrameMk id="10" creationId="{DE569695-AAFD-B629-3823-887436BEA32F}"/>
          </ac:graphicFrameMkLst>
        </pc:graphicFrameChg>
      </pc:sldChg>
      <pc:sldChg chg="addSp delSp modSp new mod">
        <pc:chgData name="zachary carideo" userId="4d13a38ebda87edc" providerId="LiveId" clId="{2596B656-581E-4375-BC47-C180C01E607C}" dt="2026-03-20T16:12:08.185" v="72" actId="1076"/>
        <pc:sldMkLst>
          <pc:docMk/>
          <pc:sldMk cId="2233297808" sldId="261"/>
        </pc:sldMkLst>
        <pc:spChg chg="mod">
          <ac:chgData name="zachary carideo" userId="4d13a38ebda87edc" providerId="LiveId" clId="{2596B656-581E-4375-BC47-C180C01E607C}" dt="2026-03-20T16:11:59.291" v="68" actId="20577"/>
          <ac:spMkLst>
            <pc:docMk/>
            <pc:sldMk cId="2233297808" sldId="261"/>
            <ac:spMk id="2" creationId="{C45B1EBD-18BC-E9CA-6172-4D40ABD50214}"/>
          </ac:spMkLst>
        </pc:spChg>
        <pc:spChg chg="add del mod">
          <ac:chgData name="zachary carideo" userId="4d13a38ebda87edc" providerId="LiveId" clId="{2596B656-581E-4375-BC47-C180C01E607C}" dt="2026-03-20T16:10:51.280" v="53" actId="478"/>
          <ac:spMkLst>
            <pc:docMk/>
            <pc:sldMk cId="2233297808" sldId="261"/>
            <ac:spMk id="3" creationId="{BF0199B3-C5A1-84A7-F41A-CE3CAE376BD1}"/>
          </ac:spMkLst>
        </pc:spChg>
        <pc:spChg chg="add mod">
          <ac:chgData name="zachary carideo" userId="4d13a38ebda87edc" providerId="LiveId" clId="{2596B656-581E-4375-BC47-C180C01E607C}" dt="2026-03-20T16:10:49.703" v="51"/>
          <ac:spMkLst>
            <pc:docMk/>
            <pc:sldMk cId="2233297808" sldId="261"/>
            <ac:spMk id="7" creationId="{8DA2B757-6E43-3AB7-6FE8-713FD4CAEDB5}"/>
          </ac:spMkLst>
        </pc:spChg>
        <pc:spChg chg="add del mod">
          <ac:chgData name="zachary carideo" userId="4d13a38ebda87edc" providerId="LiveId" clId="{2596B656-581E-4375-BC47-C180C01E607C}" dt="2026-03-20T16:11:14.044" v="62" actId="21"/>
          <ac:spMkLst>
            <pc:docMk/>
            <pc:sldMk cId="2233297808" sldId="261"/>
            <ac:spMk id="11" creationId="{61E3546D-C7DA-B2C1-AC40-84F46CB4F83F}"/>
          </ac:spMkLst>
        </pc:spChg>
        <pc:spChg chg="add mod">
          <ac:chgData name="zachary carideo" userId="4d13a38ebda87edc" providerId="LiveId" clId="{2596B656-581E-4375-BC47-C180C01E607C}" dt="2026-03-20T16:12:08.185" v="72" actId="1076"/>
          <ac:spMkLst>
            <pc:docMk/>
            <pc:sldMk cId="2233297808" sldId="261"/>
            <ac:spMk id="13" creationId="{D5A16813-8E1A-C683-F99C-5C83ADC701E7}"/>
          </ac:spMkLst>
        </pc:spChg>
        <pc:graphicFrameChg chg="add mod">
          <ac:chgData name="zachary carideo" userId="4d13a38ebda87edc" providerId="LiveId" clId="{2596B656-581E-4375-BC47-C180C01E607C}" dt="2026-03-20T16:10:49.703" v="51"/>
          <ac:graphicFrameMkLst>
            <pc:docMk/>
            <pc:sldMk cId="2233297808" sldId="261"/>
            <ac:graphicFrameMk id="4" creationId="{A90D11C1-057E-E065-0C8D-2107C285EA77}"/>
          </ac:graphicFrameMkLst>
        </pc:graphicFrameChg>
        <pc:graphicFrameChg chg="add mod">
          <ac:chgData name="zachary carideo" userId="4d13a38ebda87edc" providerId="LiveId" clId="{2596B656-581E-4375-BC47-C180C01E607C}" dt="2026-03-20T16:10:48.895" v="50"/>
          <ac:graphicFrameMkLst>
            <pc:docMk/>
            <pc:sldMk cId="2233297808" sldId="261"/>
            <ac:graphicFrameMk id="5" creationId="{7939BD70-DFCD-33DC-EF32-FC991A940ACE}"/>
          </ac:graphicFrameMkLst>
        </pc:graphicFrameChg>
        <pc:graphicFrameChg chg="add mod">
          <ac:chgData name="zachary carideo" userId="4d13a38ebda87edc" providerId="LiveId" clId="{2596B656-581E-4375-BC47-C180C01E607C}" dt="2026-03-20T16:10:48.895" v="50"/>
          <ac:graphicFrameMkLst>
            <pc:docMk/>
            <pc:sldMk cId="2233297808" sldId="261"/>
            <ac:graphicFrameMk id="6" creationId="{F93809E2-964F-5347-6666-1EC62652B7C8}"/>
          </ac:graphicFrameMkLst>
        </pc:graphicFrameChg>
        <pc:graphicFrameChg chg="add del mod">
          <ac:chgData name="zachary carideo" userId="4d13a38ebda87edc" providerId="LiveId" clId="{2596B656-581E-4375-BC47-C180C01E607C}" dt="2026-03-20T16:11:08.243" v="59" actId="21"/>
          <ac:graphicFrameMkLst>
            <pc:docMk/>
            <pc:sldMk cId="2233297808" sldId="261"/>
            <ac:graphicFrameMk id="8" creationId="{03F40EE3-EF4F-B8E9-1E05-2686C3DFA4CF}"/>
          </ac:graphicFrameMkLst>
        </pc:graphicFrameChg>
        <pc:graphicFrameChg chg="add del mod modGraphic">
          <ac:chgData name="zachary carideo" userId="4d13a38ebda87edc" providerId="LiveId" clId="{2596B656-581E-4375-BC47-C180C01E607C}" dt="2026-03-20T16:11:05.341" v="58" actId="21"/>
          <ac:graphicFrameMkLst>
            <pc:docMk/>
            <pc:sldMk cId="2233297808" sldId="261"/>
            <ac:graphicFrameMk id="9" creationId="{3B430D37-0995-5F76-A6DE-CE5D137CD27E}"/>
          </ac:graphicFrameMkLst>
        </pc:graphicFrameChg>
        <pc:graphicFrameChg chg="add del mod">
          <ac:chgData name="zachary carideo" userId="4d13a38ebda87edc" providerId="LiveId" clId="{2596B656-581E-4375-BC47-C180C01E607C}" dt="2026-03-20T16:11:12.191" v="61" actId="21"/>
          <ac:graphicFrameMkLst>
            <pc:docMk/>
            <pc:sldMk cId="2233297808" sldId="261"/>
            <ac:graphicFrameMk id="10" creationId="{E3573BC6-6ECE-3D76-289A-F4A142D9E1F9}"/>
          </ac:graphicFrameMkLst>
        </pc:graphicFrameChg>
      </pc:sldChg>
      <pc:sldChg chg="del">
        <pc:chgData name="zachary carideo" userId="4d13a38ebda87edc" providerId="LiveId" clId="{2596B656-581E-4375-BC47-C180C01E607C}" dt="2026-03-20T14:34:08.228" v="18" actId="2696"/>
        <pc:sldMkLst>
          <pc:docMk/>
          <pc:sldMk cId="3502409697" sldId="26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B137C-3655-7D71-9D14-B2C3A26ABD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8B46766-BA4A-268B-68BA-F603BDECF7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DD081D-606B-8375-3C79-CCA6E183A836}"/>
              </a:ext>
            </a:extLst>
          </p:cNvPr>
          <p:cNvSpPr>
            <a:spLocks noGrp="1"/>
          </p:cNvSpPr>
          <p:nvPr>
            <p:ph type="dt" sz="half" idx="10"/>
          </p:nvPr>
        </p:nvSpPr>
        <p:spPr/>
        <p:txBody>
          <a:bodyPr/>
          <a:lstStyle/>
          <a:p>
            <a:fld id="{310831B8-8237-417C-A542-FBFA20406ACD}" type="datetimeFigureOut">
              <a:rPr lang="en-US" smtClean="0"/>
              <a:t>3/20/2026</a:t>
            </a:fld>
            <a:endParaRPr lang="en-US"/>
          </a:p>
        </p:txBody>
      </p:sp>
      <p:sp>
        <p:nvSpPr>
          <p:cNvPr id="5" name="Footer Placeholder 4">
            <a:extLst>
              <a:ext uri="{FF2B5EF4-FFF2-40B4-BE49-F238E27FC236}">
                <a16:creationId xmlns:a16="http://schemas.microsoft.com/office/drawing/2014/main" id="{D47F13EC-BB89-1F0D-BA87-03F3B29B1E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878F94-C1E3-C3AF-F1AF-F55D23A0CDF9}"/>
              </a:ext>
            </a:extLst>
          </p:cNvPr>
          <p:cNvSpPr>
            <a:spLocks noGrp="1"/>
          </p:cNvSpPr>
          <p:nvPr>
            <p:ph type="sldNum" sz="quarter" idx="12"/>
          </p:nvPr>
        </p:nvSpPr>
        <p:spPr/>
        <p:txBody>
          <a:bodyPr/>
          <a:lstStyle/>
          <a:p>
            <a:fld id="{A3DC7C68-24A5-4072-B77C-BA6EFA1650F6}" type="slidenum">
              <a:rPr lang="en-US" smtClean="0"/>
              <a:t>‹#›</a:t>
            </a:fld>
            <a:endParaRPr lang="en-US"/>
          </a:p>
        </p:txBody>
      </p:sp>
    </p:spTree>
    <p:extLst>
      <p:ext uri="{BB962C8B-B14F-4D97-AF65-F5344CB8AC3E}">
        <p14:creationId xmlns:p14="http://schemas.microsoft.com/office/powerpoint/2010/main" val="2112440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597CE-B093-43BA-101A-ED8EA04498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184561-4396-A1E6-96C7-2E68A9CCFB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2A95AB-EC88-ABE0-479F-B1546CCAD5AE}"/>
              </a:ext>
            </a:extLst>
          </p:cNvPr>
          <p:cNvSpPr>
            <a:spLocks noGrp="1"/>
          </p:cNvSpPr>
          <p:nvPr>
            <p:ph type="dt" sz="half" idx="10"/>
          </p:nvPr>
        </p:nvSpPr>
        <p:spPr/>
        <p:txBody>
          <a:bodyPr/>
          <a:lstStyle/>
          <a:p>
            <a:fld id="{310831B8-8237-417C-A542-FBFA20406ACD}" type="datetimeFigureOut">
              <a:rPr lang="en-US" smtClean="0"/>
              <a:t>3/20/2026</a:t>
            </a:fld>
            <a:endParaRPr lang="en-US"/>
          </a:p>
        </p:txBody>
      </p:sp>
      <p:sp>
        <p:nvSpPr>
          <p:cNvPr id="5" name="Footer Placeholder 4">
            <a:extLst>
              <a:ext uri="{FF2B5EF4-FFF2-40B4-BE49-F238E27FC236}">
                <a16:creationId xmlns:a16="http://schemas.microsoft.com/office/drawing/2014/main" id="{4693DBF2-27D9-E1F3-0AD6-D13E2A058C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578EA-2DD6-9E07-2123-96AFAF4A7728}"/>
              </a:ext>
            </a:extLst>
          </p:cNvPr>
          <p:cNvSpPr>
            <a:spLocks noGrp="1"/>
          </p:cNvSpPr>
          <p:nvPr>
            <p:ph type="sldNum" sz="quarter" idx="12"/>
          </p:nvPr>
        </p:nvSpPr>
        <p:spPr/>
        <p:txBody>
          <a:bodyPr/>
          <a:lstStyle/>
          <a:p>
            <a:fld id="{A3DC7C68-24A5-4072-B77C-BA6EFA1650F6}" type="slidenum">
              <a:rPr lang="en-US" smtClean="0"/>
              <a:t>‹#›</a:t>
            </a:fld>
            <a:endParaRPr lang="en-US"/>
          </a:p>
        </p:txBody>
      </p:sp>
    </p:spTree>
    <p:extLst>
      <p:ext uri="{BB962C8B-B14F-4D97-AF65-F5344CB8AC3E}">
        <p14:creationId xmlns:p14="http://schemas.microsoft.com/office/powerpoint/2010/main" val="3722185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C93F8-571C-762C-A670-1F5CD1C648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AD53D5-3BEB-5BB4-F1D4-BD1D2B4181D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427C09-D94C-7E39-C479-1DCD77B4EC9F}"/>
              </a:ext>
            </a:extLst>
          </p:cNvPr>
          <p:cNvSpPr>
            <a:spLocks noGrp="1"/>
          </p:cNvSpPr>
          <p:nvPr>
            <p:ph type="dt" sz="half" idx="10"/>
          </p:nvPr>
        </p:nvSpPr>
        <p:spPr/>
        <p:txBody>
          <a:bodyPr/>
          <a:lstStyle/>
          <a:p>
            <a:fld id="{310831B8-8237-417C-A542-FBFA20406ACD}" type="datetimeFigureOut">
              <a:rPr lang="en-US" smtClean="0"/>
              <a:t>3/20/2026</a:t>
            </a:fld>
            <a:endParaRPr lang="en-US"/>
          </a:p>
        </p:txBody>
      </p:sp>
      <p:sp>
        <p:nvSpPr>
          <p:cNvPr id="5" name="Footer Placeholder 4">
            <a:extLst>
              <a:ext uri="{FF2B5EF4-FFF2-40B4-BE49-F238E27FC236}">
                <a16:creationId xmlns:a16="http://schemas.microsoft.com/office/drawing/2014/main" id="{BFB8415F-DEAE-B073-EC76-2000B75B23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3F2AD8-E578-1AEE-95B8-ED0C6CDE5B82}"/>
              </a:ext>
            </a:extLst>
          </p:cNvPr>
          <p:cNvSpPr>
            <a:spLocks noGrp="1"/>
          </p:cNvSpPr>
          <p:nvPr>
            <p:ph type="sldNum" sz="quarter" idx="12"/>
          </p:nvPr>
        </p:nvSpPr>
        <p:spPr/>
        <p:txBody>
          <a:bodyPr/>
          <a:lstStyle/>
          <a:p>
            <a:fld id="{A3DC7C68-24A5-4072-B77C-BA6EFA1650F6}" type="slidenum">
              <a:rPr lang="en-US" smtClean="0"/>
              <a:t>‹#›</a:t>
            </a:fld>
            <a:endParaRPr lang="en-US"/>
          </a:p>
        </p:txBody>
      </p:sp>
    </p:spTree>
    <p:extLst>
      <p:ext uri="{BB962C8B-B14F-4D97-AF65-F5344CB8AC3E}">
        <p14:creationId xmlns:p14="http://schemas.microsoft.com/office/powerpoint/2010/main" val="2084260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1E92F-1757-FEDA-A5FB-ECDB300FD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09D768-F3CC-8CB9-96DF-2390C86C02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6042F5-3DAE-5EB1-122F-EEED03FC19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F81E225-631D-D6D7-64E7-F8055426E8AA}"/>
              </a:ext>
            </a:extLst>
          </p:cNvPr>
          <p:cNvSpPr>
            <a:spLocks noGrp="1"/>
          </p:cNvSpPr>
          <p:nvPr>
            <p:ph type="dt" sz="half" idx="10"/>
          </p:nvPr>
        </p:nvSpPr>
        <p:spPr/>
        <p:txBody>
          <a:bodyPr/>
          <a:lstStyle/>
          <a:p>
            <a:fld id="{310831B8-8237-417C-A542-FBFA20406ACD}" type="datetimeFigureOut">
              <a:rPr lang="en-US" smtClean="0"/>
              <a:t>3/20/2026</a:t>
            </a:fld>
            <a:endParaRPr lang="en-US"/>
          </a:p>
        </p:txBody>
      </p:sp>
      <p:sp>
        <p:nvSpPr>
          <p:cNvPr id="6" name="Footer Placeholder 5">
            <a:extLst>
              <a:ext uri="{FF2B5EF4-FFF2-40B4-BE49-F238E27FC236}">
                <a16:creationId xmlns:a16="http://schemas.microsoft.com/office/drawing/2014/main" id="{7BAD360F-13D7-9A18-5BBB-CC0339FC0B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2F609D-7AEC-146C-3BCB-91CC9AD5CA7B}"/>
              </a:ext>
            </a:extLst>
          </p:cNvPr>
          <p:cNvSpPr>
            <a:spLocks noGrp="1"/>
          </p:cNvSpPr>
          <p:nvPr>
            <p:ph type="sldNum" sz="quarter" idx="12"/>
          </p:nvPr>
        </p:nvSpPr>
        <p:spPr/>
        <p:txBody>
          <a:bodyPr/>
          <a:lstStyle/>
          <a:p>
            <a:fld id="{A3DC7C68-24A5-4072-B77C-BA6EFA1650F6}" type="slidenum">
              <a:rPr lang="en-US" smtClean="0"/>
              <a:t>‹#›</a:t>
            </a:fld>
            <a:endParaRPr lang="en-US"/>
          </a:p>
        </p:txBody>
      </p:sp>
    </p:spTree>
    <p:extLst>
      <p:ext uri="{BB962C8B-B14F-4D97-AF65-F5344CB8AC3E}">
        <p14:creationId xmlns:p14="http://schemas.microsoft.com/office/powerpoint/2010/main" val="3323515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CEC49-4F5F-E764-FA52-7C4D3E99E8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E72F81F-62D8-0E56-F2E7-0E2AA05AF6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4C363C-4DC9-82B0-EBCB-1C2F4190B0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38808A-B930-79D8-97FC-4EDFA6EBDE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60266E-7B2A-05A8-8AA1-A46E877B6F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43D31A-6D01-8796-1DE6-30395769C445}"/>
              </a:ext>
            </a:extLst>
          </p:cNvPr>
          <p:cNvSpPr>
            <a:spLocks noGrp="1"/>
          </p:cNvSpPr>
          <p:nvPr>
            <p:ph type="dt" sz="half" idx="10"/>
          </p:nvPr>
        </p:nvSpPr>
        <p:spPr/>
        <p:txBody>
          <a:bodyPr/>
          <a:lstStyle/>
          <a:p>
            <a:fld id="{310831B8-8237-417C-A542-FBFA20406ACD}" type="datetimeFigureOut">
              <a:rPr lang="en-US" smtClean="0"/>
              <a:t>3/20/2026</a:t>
            </a:fld>
            <a:endParaRPr lang="en-US"/>
          </a:p>
        </p:txBody>
      </p:sp>
      <p:sp>
        <p:nvSpPr>
          <p:cNvPr id="8" name="Footer Placeholder 7">
            <a:extLst>
              <a:ext uri="{FF2B5EF4-FFF2-40B4-BE49-F238E27FC236}">
                <a16:creationId xmlns:a16="http://schemas.microsoft.com/office/drawing/2014/main" id="{10497FFC-D490-342D-69D5-0BBAAB9DAE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11EDC2D-020F-163A-CF9C-107F91CD0AAE}"/>
              </a:ext>
            </a:extLst>
          </p:cNvPr>
          <p:cNvSpPr>
            <a:spLocks noGrp="1"/>
          </p:cNvSpPr>
          <p:nvPr>
            <p:ph type="sldNum" sz="quarter" idx="12"/>
          </p:nvPr>
        </p:nvSpPr>
        <p:spPr/>
        <p:txBody>
          <a:bodyPr/>
          <a:lstStyle/>
          <a:p>
            <a:fld id="{A3DC7C68-24A5-4072-B77C-BA6EFA1650F6}" type="slidenum">
              <a:rPr lang="en-US" smtClean="0"/>
              <a:t>‹#›</a:t>
            </a:fld>
            <a:endParaRPr lang="en-US"/>
          </a:p>
        </p:txBody>
      </p:sp>
    </p:spTree>
    <p:extLst>
      <p:ext uri="{BB962C8B-B14F-4D97-AF65-F5344CB8AC3E}">
        <p14:creationId xmlns:p14="http://schemas.microsoft.com/office/powerpoint/2010/main" val="4135405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47DFD-F26B-E08A-16C6-93428CEA0A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3497702-A497-FF89-5043-3F9A792754C0}"/>
              </a:ext>
            </a:extLst>
          </p:cNvPr>
          <p:cNvSpPr>
            <a:spLocks noGrp="1"/>
          </p:cNvSpPr>
          <p:nvPr>
            <p:ph type="dt" sz="half" idx="10"/>
          </p:nvPr>
        </p:nvSpPr>
        <p:spPr/>
        <p:txBody>
          <a:bodyPr/>
          <a:lstStyle/>
          <a:p>
            <a:fld id="{310831B8-8237-417C-A542-FBFA20406ACD}" type="datetimeFigureOut">
              <a:rPr lang="en-US" smtClean="0"/>
              <a:t>3/20/2026</a:t>
            </a:fld>
            <a:endParaRPr lang="en-US"/>
          </a:p>
        </p:txBody>
      </p:sp>
      <p:sp>
        <p:nvSpPr>
          <p:cNvPr id="4" name="Footer Placeholder 3">
            <a:extLst>
              <a:ext uri="{FF2B5EF4-FFF2-40B4-BE49-F238E27FC236}">
                <a16:creationId xmlns:a16="http://schemas.microsoft.com/office/drawing/2014/main" id="{E2B215C3-E6C8-9A8A-9DFD-5FCBCA79D7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53E043-DBC5-BFC0-80D4-297FA4E9DF29}"/>
              </a:ext>
            </a:extLst>
          </p:cNvPr>
          <p:cNvSpPr>
            <a:spLocks noGrp="1"/>
          </p:cNvSpPr>
          <p:nvPr>
            <p:ph type="sldNum" sz="quarter" idx="12"/>
          </p:nvPr>
        </p:nvSpPr>
        <p:spPr/>
        <p:txBody>
          <a:bodyPr/>
          <a:lstStyle/>
          <a:p>
            <a:fld id="{A3DC7C68-24A5-4072-B77C-BA6EFA1650F6}" type="slidenum">
              <a:rPr lang="en-US" smtClean="0"/>
              <a:t>‹#›</a:t>
            </a:fld>
            <a:endParaRPr lang="en-US"/>
          </a:p>
        </p:txBody>
      </p:sp>
    </p:spTree>
    <p:extLst>
      <p:ext uri="{BB962C8B-B14F-4D97-AF65-F5344CB8AC3E}">
        <p14:creationId xmlns:p14="http://schemas.microsoft.com/office/powerpoint/2010/main" val="525895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6F99E9-7C7D-A6C8-DBED-560C1179EB5F}"/>
              </a:ext>
            </a:extLst>
          </p:cNvPr>
          <p:cNvSpPr>
            <a:spLocks noGrp="1"/>
          </p:cNvSpPr>
          <p:nvPr>
            <p:ph type="dt" sz="half" idx="10"/>
          </p:nvPr>
        </p:nvSpPr>
        <p:spPr/>
        <p:txBody>
          <a:bodyPr/>
          <a:lstStyle/>
          <a:p>
            <a:fld id="{310831B8-8237-417C-A542-FBFA20406ACD}" type="datetimeFigureOut">
              <a:rPr lang="en-US" smtClean="0"/>
              <a:t>3/20/2026</a:t>
            </a:fld>
            <a:endParaRPr lang="en-US"/>
          </a:p>
        </p:txBody>
      </p:sp>
      <p:sp>
        <p:nvSpPr>
          <p:cNvPr id="3" name="Footer Placeholder 2">
            <a:extLst>
              <a:ext uri="{FF2B5EF4-FFF2-40B4-BE49-F238E27FC236}">
                <a16:creationId xmlns:a16="http://schemas.microsoft.com/office/drawing/2014/main" id="{20064419-4A8A-E5A6-E917-7B7C051BFB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4D0944-B412-3E60-192C-2E84E41D79A0}"/>
              </a:ext>
            </a:extLst>
          </p:cNvPr>
          <p:cNvSpPr>
            <a:spLocks noGrp="1"/>
          </p:cNvSpPr>
          <p:nvPr>
            <p:ph type="sldNum" sz="quarter" idx="12"/>
          </p:nvPr>
        </p:nvSpPr>
        <p:spPr/>
        <p:txBody>
          <a:bodyPr/>
          <a:lstStyle/>
          <a:p>
            <a:fld id="{A3DC7C68-24A5-4072-B77C-BA6EFA1650F6}" type="slidenum">
              <a:rPr lang="en-US" smtClean="0"/>
              <a:t>‹#›</a:t>
            </a:fld>
            <a:endParaRPr lang="en-US"/>
          </a:p>
        </p:txBody>
      </p:sp>
    </p:spTree>
    <p:extLst>
      <p:ext uri="{BB962C8B-B14F-4D97-AF65-F5344CB8AC3E}">
        <p14:creationId xmlns:p14="http://schemas.microsoft.com/office/powerpoint/2010/main" val="1672737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65B86-AAB9-3C84-00B1-FD0731BA02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033E252-C19B-DDB9-B846-3C99EEF94D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5F4E55-69D9-7D93-A81C-84A07089C5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8A104D-77FB-EA6D-3A9D-6A8BC154404B}"/>
              </a:ext>
            </a:extLst>
          </p:cNvPr>
          <p:cNvSpPr>
            <a:spLocks noGrp="1"/>
          </p:cNvSpPr>
          <p:nvPr>
            <p:ph type="dt" sz="half" idx="10"/>
          </p:nvPr>
        </p:nvSpPr>
        <p:spPr/>
        <p:txBody>
          <a:bodyPr/>
          <a:lstStyle/>
          <a:p>
            <a:fld id="{310831B8-8237-417C-A542-FBFA20406ACD}" type="datetimeFigureOut">
              <a:rPr lang="en-US" smtClean="0"/>
              <a:t>3/20/2026</a:t>
            </a:fld>
            <a:endParaRPr lang="en-US"/>
          </a:p>
        </p:txBody>
      </p:sp>
      <p:sp>
        <p:nvSpPr>
          <p:cNvPr id="6" name="Footer Placeholder 5">
            <a:extLst>
              <a:ext uri="{FF2B5EF4-FFF2-40B4-BE49-F238E27FC236}">
                <a16:creationId xmlns:a16="http://schemas.microsoft.com/office/drawing/2014/main" id="{0994C744-791A-43D3-561D-E4DA206A92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AA834C-F0D0-D578-90C4-9E474814C9C2}"/>
              </a:ext>
            </a:extLst>
          </p:cNvPr>
          <p:cNvSpPr>
            <a:spLocks noGrp="1"/>
          </p:cNvSpPr>
          <p:nvPr>
            <p:ph type="sldNum" sz="quarter" idx="12"/>
          </p:nvPr>
        </p:nvSpPr>
        <p:spPr/>
        <p:txBody>
          <a:bodyPr/>
          <a:lstStyle/>
          <a:p>
            <a:fld id="{A3DC7C68-24A5-4072-B77C-BA6EFA1650F6}" type="slidenum">
              <a:rPr lang="en-US" smtClean="0"/>
              <a:t>‹#›</a:t>
            </a:fld>
            <a:endParaRPr lang="en-US"/>
          </a:p>
        </p:txBody>
      </p:sp>
    </p:spTree>
    <p:extLst>
      <p:ext uri="{BB962C8B-B14F-4D97-AF65-F5344CB8AC3E}">
        <p14:creationId xmlns:p14="http://schemas.microsoft.com/office/powerpoint/2010/main" val="2854745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A6DAB-2ADF-BA39-8859-A2DB5FB446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5457B1-F3E6-4EC6-EF40-8CAB274A8D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76DAF2-C7FC-737B-A8A4-16DEA28A56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C34EC7-7645-6B90-2F90-2F7E077558F4}"/>
              </a:ext>
            </a:extLst>
          </p:cNvPr>
          <p:cNvSpPr>
            <a:spLocks noGrp="1"/>
          </p:cNvSpPr>
          <p:nvPr>
            <p:ph type="dt" sz="half" idx="10"/>
          </p:nvPr>
        </p:nvSpPr>
        <p:spPr/>
        <p:txBody>
          <a:bodyPr/>
          <a:lstStyle/>
          <a:p>
            <a:fld id="{310831B8-8237-417C-A542-FBFA20406ACD}" type="datetimeFigureOut">
              <a:rPr lang="en-US" smtClean="0"/>
              <a:t>3/20/2026</a:t>
            </a:fld>
            <a:endParaRPr lang="en-US"/>
          </a:p>
        </p:txBody>
      </p:sp>
      <p:sp>
        <p:nvSpPr>
          <p:cNvPr id="6" name="Footer Placeholder 5">
            <a:extLst>
              <a:ext uri="{FF2B5EF4-FFF2-40B4-BE49-F238E27FC236}">
                <a16:creationId xmlns:a16="http://schemas.microsoft.com/office/drawing/2014/main" id="{64E1DFC6-EC1C-EE1D-72A1-4774FBD38A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BA8B06-C5E9-AF43-6A98-F874112A71B1}"/>
              </a:ext>
            </a:extLst>
          </p:cNvPr>
          <p:cNvSpPr>
            <a:spLocks noGrp="1"/>
          </p:cNvSpPr>
          <p:nvPr>
            <p:ph type="sldNum" sz="quarter" idx="12"/>
          </p:nvPr>
        </p:nvSpPr>
        <p:spPr/>
        <p:txBody>
          <a:bodyPr/>
          <a:lstStyle/>
          <a:p>
            <a:fld id="{A3DC7C68-24A5-4072-B77C-BA6EFA1650F6}" type="slidenum">
              <a:rPr lang="en-US" smtClean="0"/>
              <a:t>‹#›</a:t>
            </a:fld>
            <a:endParaRPr lang="en-US"/>
          </a:p>
        </p:txBody>
      </p:sp>
    </p:spTree>
    <p:extLst>
      <p:ext uri="{BB962C8B-B14F-4D97-AF65-F5344CB8AC3E}">
        <p14:creationId xmlns:p14="http://schemas.microsoft.com/office/powerpoint/2010/main" val="1292277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613A3-7CB1-0543-4EE2-44D7EE4349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C49806B-9F5A-724E-657F-4807E0FCDD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6A3FC1-1601-6BEC-99E0-DED0F904D8B3}"/>
              </a:ext>
            </a:extLst>
          </p:cNvPr>
          <p:cNvSpPr>
            <a:spLocks noGrp="1"/>
          </p:cNvSpPr>
          <p:nvPr>
            <p:ph type="dt" sz="half" idx="10"/>
          </p:nvPr>
        </p:nvSpPr>
        <p:spPr/>
        <p:txBody>
          <a:bodyPr/>
          <a:lstStyle/>
          <a:p>
            <a:fld id="{310831B8-8237-417C-A542-FBFA20406ACD}" type="datetimeFigureOut">
              <a:rPr lang="en-US" smtClean="0"/>
              <a:t>3/20/2026</a:t>
            </a:fld>
            <a:endParaRPr lang="en-US"/>
          </a:p>
        </p:txBody>
      </p:sp>
      <p:sp>
        <p:nvSpPr>
          <p:cNvPr id="5" name="Footer Placeholder 4">
            <a:extLst>
              <a:ext uri="{FF2B5EF4-FFF2-40B4-BE49-F238E27FC236}">
                <a16:creationId xmlns:a16="http://schemas.microsoft.com/office/drawing/2014/main" id="{571FD70B-D0F7-64A2-FEA2-833C13508F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E690E9-2969-218E-BF29-B25E07E309CE}"/>
              </a:ext>
            </a:extLst>
          </p:cNvPr>
          <p:cNvSpPr>
            <a:spLocks noGrp="1"/>
          </p:cNvSpPr>
          <p:nvPr>
            <p:ph type="sldNum" sz="quarter" idx="12"/>
          </p:nvPr>
        </p:nvSpPr>
        <p:spPr/>
        <p:txBody>
          <a:bodyPr/>
          <a:lstStyle/>
          <a:p>
            <a:fld id="{A3DC7C68-24A5-4072-B77C-BA6EFA1650F6}" type="slidenum">
              <a:rPr lang="en-US" smtClean="0"/>
              <a:t>‹#›</a:t>
            </a:fld>
            <a:endParaRPr lang="en-US"/>
          </a:p>
        </p:txBody>
      </p:sp>
    </p:spTree>
    <p:extLst>
      <p:ext uri="{BB962C8B-B14F-4D97-AF65-F5344CB8AC3E}">
        <p14:creationId xmlns:p14="http://schemas.microsoft.com/office/powerpoint/2010/main" val="3649142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902426-0031-D8EC-ADDB-AB3DA53B4A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4F732D-4B7D-E6DA-7E37-4177DE2481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8925CF-03B6-2BFB-89B3-679B2D8DB33F}"/>
              </a:ext>
            </a:extLst>
          </p:cNvPr>
          <p:cNvSpPr>
            <a:spLocks noGrp="1"/>
          </p:cNvSpPr>
          <p:nvPr>
            <p:ph type="dt" sz="half" idx="10"/>
          </p:nvPr>
        </p:nvSpPr>
        <p:spPr/>
        <p:txBody>
          <a:bodyPr/>
          <a:lstStyle/>
          <a:p>
            <a:fld id="{310831B8-8237-417C-A542-FBFA20406ACD}" type="datetimeFigureOut">
              <a:rPr lang="en-US" smtClean="0"/>
              <a:t>3/20/2026</a:t>
            </a:fld>
            <a:endParaRPr lang="en-US"/>
          </a:p>
        </p:txBody>
      </p:sp>
      <p:sp>
        <p:nvSpPr>
          <p:cNvPr id="5" name="Footer Placeholder 4">
            <a:extLst>
              <a:ext uri="{FF2B5EF4-FFF2-40B4-BE49-F238E27FC236}">
                <a16:creationId xmlns:a16="http://schemas.microsoft.com/office/drawing/2014/main" id="{D31991DA-9BAC-CF2D-C38B-68ACA4A8D0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24DFDC-97F4-DA9D-F2D4-80EB19A4640C}"/>
              </a:ext>
            </a:extLst>
          </p:cNvPr>
          <p:cNvSpPr>
            <a:spLocks noGrp="1"/>
          </p:cNvSpPr>
          <p:nvPr>
            <p:ph type="sldNum" sz="quarter" idx="12"/>
          </p:nvPr>
        </p:nvSpPr>
        <p:spPr/>
        <p:txBody>
          <a:bodyPr/>
          <a:lstStyle/>
          <a:p>
            <a:fld id="{A3DC7C68-24A5-4072-B77C-BA6EFA1650F6}" type="slidenum">
              <a:rPr lang="en-US" smtClean="0"/>
              <a:t>‹#›</a:t>
            </a:fld>
            <a:endParaRPr lang="en-US"/>
          </a:p>
        </p:txBody>
      </p:sp>
    </p:spTree>
    <p:extLst>
      <p:ext uri="{BB962C8B-B14F-4D97-AF65-F5344CB8AC3E}">
        <p14:creationId xmlns:p14="http://schemas.microsoft.com/office/powerpoint/2010/main" val="2693095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2F59EA-5647-8B5B-8277-2905AF794F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409962-6C69-005A-2635-7D5A940FAA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DFACD0-3FD7-9708-27B7-93D16CE79F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10831B8-8237-417C-A542-FBFA20406ACD}" type="datetimeFigureOut">
              <a:rPr lang="en-US" smtClean="0"/>
              <a:t>3/20/2026</a:t>
            </a:fld>
            <a:endParaRPr lang="en-US"/>
          </a:p>
        </p:txBody>
      </p:sp>
      <p:sp>
        <p:nvSpPr>
          <p:cNvPr id="5" name="Footer Placeholder 4">
            <a:extLst>
              <a:ext uri="{FF2B5EF4-FFF2-40B4-BE49-F238E27FC236}">
                <a16:creationId xmlns:a16="http://schemas.microsoft.com/office/drawing/2014/main" id="{9EA21207-3AB2-4392-8A7C-AB052B679B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DD4E60A-A4E0-EA64-6730-5FD14885BD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3DC7C68-24A5-4072-B77C-BA6EFA1650F6}" type="slidenum">
              <a:rPr lang="en-US" smtClean="0"/>
              <a:t>‹#›</a:t>
            </a:fld>
            <a:endParaRPr lang="en-US"/>
          </a:p>
        </p:txBody>
      </p:sp>
    </p:spTree>
    <p:extLst>
      <p:ext uri="{BB962C8B-B14F-4D97-AF65-F5344CB8AC3E}">
        <p14:creationId xmlns:p14="http://schemas.microsoft.com/office/powerpoint/2010/main" val="1409981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B4A49-9475-ED6A-8DDB-216A549E081B}"/>
              </a:ext>
            </a:extLst>
          </p:cNvPr>
          <p:cNvSpPr>
            <a:spLocks noGrp="1"/>
          </p:cNvSpPr>
          <p:nvPr>
            <p:ph type="ctrTitle"/>
          </p:nvPr>
        </p:nvSpPr>
        <p:spPr/>
        <p:txBody>
          <a:bodyPr/>
          <a:lstStyle/>
          <a:p>
            <a:r>
              <a:rPr lang="en-US" dirty="0"/>
              <a:t>Control Description QC</a:t>
            </a:r>
          </a:p>
        </p:txBody>
      </p:sp>
      <p:sp>
        <p:nvSpPr>
          <p:cNvPr id="3" name="Subtitle 2">
            <a:extLst>
              <a:ext uri="{FF2B5EF4-FFF2-40B4-BE49-F238E27FC236}">
                <a16:creationId xmlns:a16="http://schemas.microsoft.com/office/drawing/2014/main" id="{FB81C1FD-0C0D-2F8F-C096-BBF61C3FA30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56524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49408-6042-3FAB-91B9-D763B3AD910C}"/>
              </a:ext>
            </a:extLst>
          </p:cNvPr>
          <p:cNvSpPr>
            <a:spLocks noGrp="1"/>
          </p:cNvSpPr>
          <p:nvPr>
            <p:ph type="title"/>
          </p:nvPr>
        </p:nvSpPr>
        <p:spPr/>
        <p:txBody>
          <a:bodyPr/>
          <a:lstStyle/>
          <a:p>
            <a:r>
              <a:rPr lang="en-US" dirty="0"/>
              <a:t>Example Inputs</a:t>
            </a:r>
          </a:p>
        </p:txBody>
      </p:sp>
      <p:sp>
        <p:nvSpPr>
          <p:cNvPr id="3" name="Content Placeholder 2">
            <a:extLst>
              <a:ext uri="{FF2B5EF4-FFF2-40B4-BE49-F238E27FC236}">
                <a16:creationId xmlns:a16="http://schemas.microsoft.com/office/drawing/2014/main" id="{9E0DC8D7-9C50-C437-0EF1-0F6D5FE6CB07}"/>
              </a:ext>
            </a:extLst>
          </p:cNvPr>
          <p:cNvSpPr>
            <a:spLocks noGrp="1"/>
          </p:cNvSpPr>
          <p:nvPr>
            <p:ph idx="1"/>
          </p:nvPr>
        </p:nvSpPr>
        <p:spPr/>
        <p:txBody>
          <a:bodyPr>
            <a:normAutofit fontScale="77500" lnSpcReduction="20000"/>
          </a:bodyPr>
          <a:lstStyle/>
          <a:p>
            <a:r>
              <a:rPr lang="en-US" b="1" dirty="0"/>
              <a:t>Risk Description: </a:t>
            </a:r>
            <a:r>
              <a:rPr lang="en-US" dirty="0"/>
              <a:t>"There is a risk that, in the absence of enforced role separation, a single employee with unchecked access across transaction initiation, approval, recording, and reconciliation functions could execute unauthorized transactions, manipulate financial records, or conceal fraudulent activity — resulting in direct financial loss, materially inaccurate financial reporting, regulatory enforcement action, and reputational harm to the institution"</a:t>
            </a:r>
          </a:p>
          <a:p>
            <a:pPr marL="0" indent="0">
              <a:buNone/>
            </a:pPr>
            <a:endParaRPr lang="en-US" dirty="0"/>
          </a:p>
          <a:p>
            <a:r>
              <a:rPr lang="en-US" b="1" dirty="0"/>
              <a:t>Control Description: </a:t>
            </a:r>
            <a:r>
              <a:rPr lang="en-US" dirty="0"/>
              <a:t>"On an ongoing, continuous basis, the Access Management team in coordination with the first-line Business Risk Officer enforces role-based access controls (RBAC) to ensure that the initiation, authorization, recording, and reconciliation of financial transactions are assigned to separate and distinct individuals, with periodic access reviews conducted no less than quarterly to validate continued role segregation [A], using the institution's Identity and Access Management (IAM) platform and core banking transaction processing system access control modules to ensure no single employee retains end-to-end control over a transaction lifecycle in a manner that could enable the execution or concealment of unauthorized transactions or financial misstatement'</a:t>
            </a:r>
          </a:p>
          <a:p>
            <a:pPr marL="0" indent="0">
              <a:buNone/>
            </a:pPr>
            <a:endParaRPr lang="en-US" dirty="0"/>
          </a:p>
          <a:p>
            <a:endParaRPr lang="en-US" dirty="0"/>
          </a:p>
        </p:txBody>
      </p:sp>
    </p:spTree>
    <p:extLst>
      <p:ext uri="{BB962C8B-B14F-4D97-AF65-F5344CB8AC3E}">
        <p14:creationId xmlns:p14="http://schemas.microsoft.com/office/powerpoint/2010/main" val="2959493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D0A89-C060-D828-C090-72437FFCDD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71D7D6-5D1E-F25B-7C53-4911988562D3}"/>
              </a:ext>
            </a:extLst>
          </p:cNvPr>
          <p:cNvSpPr>
            <a:spLocks noGrp="1"/>
          </p:cNvSpPr>
          <p:nvPr>
            <p:ph type="title"/>
          </p:nvPr>
        </p:nvSpPr>
        <p:spPr/>
        <p:txBody>
          <a:bodyPr/>
          <a:lstStyle/>
          <a:p>
            <a:r>
              <a:rPr lang="en-US" dirty="0"/>
              <a:t>FRASA Quality Control Report</a:t>
            </a:r>
          </a:p>
        </p:txBody>
      </p:sp>
      <p:graphicFrame>
        <p:nvGraphicFramePr>
          <p:cNvPr id="12" name="Table 11">
            <a:extLst>
              <a:ext uri="{FF2B5EF4-FFF2-40B4-BE49-F238E27FC236}">
                <a16:creationId xmlns:a16="http://schemas.microsoft.com/office/drawing/2014/main" id="{D41050DD-4DB5-E9F0-9076-2322B4562E4D}"/>
              </a:ext>
            </a:extLst>
          </p:cNvPr>
          <p:cNvGraphicFramePr>
            <a:graphicFrameLocks noGrp="1"/>
          </p:cNvGraphicFramePr>
          <p:nvPr>
            <p:extLst>
              <p:ext uri="{D42A27DB-BD31-4B8C-83A1-F6EECF244321}">
                <p14:modId xmlns:p14="http://schemas.microsoft.com/office/powerpoint/2010/main" val="2783243083"/>
              </p:ext>
            </p:extLst>
          </p:nvPr>
        </p:nvGraphicFramePr>
        <p:xfrm>
          <a:off x="679862" y="1392261"/>
          <a:ext cx="10673938" cy="4892780"/>
        </p:xfrm>
        <a:graphic>
          <a:graphicData uri="http://schemas.openxmlformats.org/drawingml/2006/table">
            <a:tbl>
              <a:tblPr/>
              <a:tblGrid>
                <a:gridCol w="1030185">
                  <a:extLst>
                    <a:ext uri="{9D8B030D-6E8A-4147-A177-3AD203B41FA5}">
                      <a16:colId xmlns:a16="http://schemas.microsoft.com/office/drawing/2014/main" val="1697254852"/>
                    </a:ext>
                  </a:extLst>
                </a:gridCol>
                <a:gridCol w="890649">
                  <a:extLst>
                    <a:ext uri="{9D8B030D-6E8A-4147-A177-3AD203B41FA5}">
                      <a16:colId xmlns:a16="http://schemas.microsoft.com/office/drawing/2014/main" val="3977191554"/>
                    </a:ext>
                  </a:extLst>
                </a:gridCol>
                <a:gridCol w="5236582">
                  <a:extLst>
                    <a:ext uri="{9D8B030D-6E8A-4147-A177-3AD203B41FA5}">
                      <a16:colId xmlns:a16="http://schemas.microsoft.com/office/drawing/2014/main" val="1656980258"/>
                    </a:ext>
                  </a:extLst>
                </a:gridCol>
                <a:gridCol w="3516522">
                  <a:extLst>
                    <a:ext uri="{9D8B030D-6E8A-4147-A177-3AD203B41FA5}">
                      <a16:colId xmlns:a16="http://schemas.microsoft.com/office/drawing/2014/main" val="2699583417"/>
                    </a:ext>
                  </a:extLst>
                </a:gridCol>
              </a:tblGrid>
              <a:tr h="362611">
                <a:tc>
                  <a:txBody>
                    <a:bodyPr/>
                    <a:lstStyle/>
                    <a:p>
                      <a:pPr algn="ctr" fontAlgn="ctr">
                        <a:buNone/>
                      </a:pPr>
                      <a:r>
                        <a:rPr lang="en-US" sz="1600" b="1" i="0" u="none" strike="noStrike">
                          <a:solidFill>
                            <a:srgbClr val="000000"/>
                          </a:solidFill>
                          <a:effectLst/>
                          <a:latin typeface="Aptos Narrow" panose="020B0004020202020204" pitchFamily="34" charset="0"/>
                        </a:rPr>
                        <a:t>QC Criteria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600" b="1" i="0" u="none" strike="noStrike">
                          <a:solidFill>
                            <a:srgbClr val="000000"/>
                          </a:solidFill>
                          <a:effectLst/>
                          <a:latin typeface="Aptos Narrow" panose="020B0004020202020204" pitchFamily="34" charset="0"/>
                        </a:rPr>
                        <a:t>PASS/FAIL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600" b="1" i="0" u="none" strike="noStrike">
                          <a:solidFill>
                            <a:srgbClr val="000000"/>
                          </a:solidFill>
                          <a:effectLst/>
                          <a:latin typeface="Aptos Narrow" panose="020B0004020202020204" pitchFamily="34" charset="0"/>
                        </a:rPr>
                        <a:t>Rationale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600" b="1" i="0" u="none" strike="noStrike">
                          <a:solidFill>
                            <a:srgbClr val="000000"/>
                          </a:solidFill>
                          <a:effectLst/>
                          <a:latin typeface="Aptos Narrow" panose="020B0004020202020204" pitchFamily="34" charset="0"/>
                        </a:rPr>
                        <a:t>Revision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47764255"/>
                  </a:ext>
                </a:extLst>
              </a:tr>
              <a:tr h="543917">
                <a:tc>
                  <a:txBody>
                    <a:bodyPr/>
                    <a:lstStyle/>
                    <a:p>
                      <a:pPr algn="ctr" fontAlgn="ctr">
                        <a:buNone/>
                      </a:pPr>
                      <a:r>
                        <a:rPr lang="en-US" sz="1600" b="0" i="0" u="none" strike="noStrike">
                          <a:solidFill>
                            <a:srgbClr val="000000"/>
                          </a:solidFill>
                          <a:effectLst/>
                          <a:latin typeface="Aptos Narrow" panose="020B0004020202020204" pitchFamily="34" charset="0"/>
                        </a:rPr>
                        <a:t>Frequency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dirty="0">
                          <a:solidFill>
                            <a:srgbClr val="000000"/>
                          </a:solidFill>
                          <a:effectLst/>
                          <a:latin typeface="Aptos Narrow" panose="020B0004020202020204" pitchFamily="34" charset="0"/>
                        </a:rPr>
                        <a:t>MEETS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States "On an ongoing, continuous basis" and "periodic access reviews conducted no less than quarterly".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N/A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98821040"/>
                  </a:ext>
                </a:extLst>
              </a:tr>
              <a:tr h="543917">
                <a:tc>
                  <a:txBody>
                    <a:bodyPr/>
                    <a:lstStyle/>
                    <a:p>
                      <a:pPr algn="ctr" fontAlgn="ctr">
                        <a:buNone/>
                      </a:pPr>
                      <a:r>
                        <a:rPr lang="en-US" sz="1600" b="0" i="0" u="none" strike="noStrike">
                          <a:solidFill>
                            <a:srgbClr val="000000"/>
                          </a:solidFill>
                          <a:effectLst/>
                          <a:latin typeface="Aptos Narrow" panose="020B0004020202020204" pitchFamily="34" charset="0"/>
                        </a:rPr>
                        <a:t>Responsible Party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MEETS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Identifies "the Access Management team in coordination with the first-line Business Risk Officer".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N/A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57469754"/>
                  </a:ext>
                </a:extLst>
              </a:tr>
              <a:tr h="906529">
                <a:tc>
                  <a:txBody>
                    <a:bodyPr/>
                    <a:lstStyle/>
                    <a:p>
                      <a:pPr algn="ctr" fontAlgn="ctr">
                        <a:buNone/>
                      </a:pPr>
                      <a:r>
                        <a:rPr lang="en-US" sz="1600" b="0" i="0" u="none" strike="noStrike">
                          <a:solidFill>
                            <a:srgbClr val="000000"/>
                          </a:solidFill>
                          <a:effectLst/>
                          <a:latin typeface="Aptos Narrow" panose="020B0004020202020204" pitchFamily="34" charset="0"/>
                        </a:rPr>
                        <a:t>Activity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MEETS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Describes enforcement of "role-based access controls (RBAC) to ensure that the initiation, authorization, recording, and reconciliation of financial transactions are assigned to separate and distinct individuals".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N/A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9698192"/>
                  </a:ext>
                </a:extLst>
              </a:tr>
              <a:tr h="543917">
                <a:tc>
                  <a:txBody>
                    <a:bodyPr/>
                    <a:lstStyle/>
                    <a:p>
                      <a:pPr algn="ctr" fontAlgn="ctr">
                        <a:buNone/>
                      </a:pPr>
                      <a:r>
                        <a:rPr lang="en-US" sz="1600" b="0" i="0" u="none" strike="noStrike">
                          <a:solidFill>
                            <a:srgbClr val="000000"/>
                          </a:solidFill>
                          <a:effectLst/>
                          <a:latin typeface="Aptos Narrow" panose="020B0004020202020204" pitchFamily="34" charset="0"/>
                        </a:rPr>
                        <a:t>Source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MEETS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Cites "the institution's Identity and Access Management (IAM) platform and core banking transaction processing system access control modules".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N/A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77957723"/>
                  </a:ext>
                </a:extLst>
              </a:tr>
              <a:tr h="906529">
                <a:tc>
                  <a:txBody>
                    <a:bodyPr/>
                    <a:lstStyle/>
                    <a:p>
                      <a:pPr algn="ctr" fontAlgn="ctr">
                        <a:buNone/>
                      </a:pPr>
                      <a:r>
                        <a:rPr lang="en-US" sz="1600" b="0" i="0" u="none" strike="noStrike">
                          <a:solidFill>
                            <a:srgbClr val="000000"/>
                          </a:solidFill>
                          <a:effectLst/>
                          <a:latin typeface="Aptos Narrow" panose="020B0004020202020204" pitchFamily="34" charset="0"/>
                        </a:rPr>
                        <a:t>Action Taken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PARTIALLY MEETS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Notes "periodic access reviews conducted no less than quarterly to validate continued role segregation" but does not specify investigation, remediation, revocation, escalation, tracking, or timeframes for exceptions.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dirty="0">
                          <a:solidFill>
                            <a:srgbClr val="000000"/>
                          </a:solidFill>
                          <a:effectLst/>
                          <a:latin typeface="Aptos Narrow" panose="020B0004020202020204" pitchFamily="34" charset="0"/>
                        </a:rPr>
                        <a:t>Add: "Exceptions are investigated by Access Management; access is revoked or remediated, remediation is tracked in [PLACEHOLDER: tracking system], and unresolved/high‑risk issues are escalated to [PLACEHOLDER: escalation owner] within [PLACEHOLDER: timeframe]."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08566786"/>
                  </a:ext>
                </a:extLst>
              </a:tr>
            </a:tbl>
          </a:graphicData>
        </a:graphic>
      </p:graphicFrame>
    </p:spTree>
    <p:extLst>
      <p:ext uri="{BB962C8B-B14F-4D97-AF65-F5344CB8AC3E}">
        <p14:creationId xmlns:p14="http://schemas.microsoft.com/office/powerpoint/2010/main" val="1427147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02739-9F6B-F606-9B89-3CB629315B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770CDC-9F3F-D7F8-A91E-C1763FA9BAE8}"/>
              </a:ext>
            </a:extLst>
          </p:cNvPr>
          <p:cNvSpPr>
            <a:spLocks noGrp="1"/>
          </p:cNvSpPr>
          <p:nvPr>
            <p:ph type="title"/>
          </p:nvPr>
        </p:nvSpPr>
        <p:spPr>
          <a:xfrm>
            <a:off x="838200" y="365126"/>
            <a:ext cx="10515600" cy="736088"/>
          </a:xfrm>
        </p:spPr>
        <p:txBody>
          <a:bodyPr/>
          <a:lstStyle/>
          <a:p>
            <a:r>
              <a:rPr lang="en-US" dirty="0"/>
              <a:t>Internal Quality Control Report</a:t>
            </a:r>
          </a:p>
        </p:txBody>
      </p:sp>
      <p:graphicFrame>
        <p:nvGraphicFramePr>
          <p:cNvPr id="4" name="Table 3">
            <a:extLst>
              <a:ext uri="{FF2B5EF4-FFF2-40B4-BE49-F238E27FC236}">
                <a16:creationId xmlns:a16="http://schemas.microsoft.com/office/drawing/2014/main" id="{D94613D2-B31D-43E5-0D30-805D6EF21196}"/>
              </a:ext>
            </a:extLst>
          </p:cNvPr>
          <p:cNvGraphicFramePr>
            <a:graphicFrameLocks noGrp="1"/>
          </p:cNvGraphicFramePr>
          <p:nvPr>
            <p:extLst>
              <p:ext uri="{D42A27DB-BD31-4B8C-83A1-F6EECF244321}">
                <p14:modId xmlns:p14="http://schemas.microsoft.com/office/powerpoint/2010/main" val="3600504914"/>
              </p:ext>
            </p:extLst>
          </p:nvPr>
        </p:nvGraphicFramePr>
        <p:xfrm>
          <a:off x="733302" y="1101214"/>
          <a:ext cx="10467438" cy="5280740"/>
        </p:xfrm>
        <a:graphic>
          <a:graphicData uri="http://schemas.openxmlformats.org/drawingml/2006/table">
            <a:tbl>
              <a:tblPr/>
              <a:tblGrid>
                <a:gridCol w="989775">
                  <a:extLst>
                    <a:ext uri="{9D8B030D-6E8A-4147-A177-3AD203B41FA5}">
                      <a16:colId xmlns:a16="http://schemas.microsoft.com/office/drawing/2014/main" val="3421715152"/>
                    </a:ext>
                  </a:extLst>
                </a:gridCol>
                <a:gridCol w="1067625">
                  <a:extLst>
                    <a:ext uri="{9D8B030D-6E8A-4147-A177-3AD203B41FA5}">
                      <a16:colId xmlns:a16="http://schemas.microsoft.com/office/drawing/2014/main" val="3085318759"/>
                    </a:ext>
                  </a:extLst>
                </a:gridCol>
                <a:gridCol w="4360552">
                  <a:extLst>
                    <a:ext uri="{9D8B030D-6E8A-4147-A177-3AD203B41FA5}">
                      <a16:colId xmlns:a16="http://schemas.microsoft.com/office/drawing/2014/main" val="1828988201"/>
                    </a:ext>
                  </a:extLst>
                </a:gridCol>
                <a:gridCol w="4049486">
                  <a:extLst>
                    <a:ext uri="{9D8B030D-6E8A-4147-A177-3AD203B41FA5}">
                      <a16:colId xmlns:a16="http://schemas.microsoft.com/office/drawing/2014/main" val="1223968030"/>
                    </a:ext>
                  </a:extLst>
                </a:gridCol>
              </a:tblGrid>
              <a:tr h="271959">
                <a:tc>
                  <a:txBody>
                    <a:bodyPr/>
                    <a:lstStyle/>
                    <a:p>
                      <a:pPr algn="ctr" fontAlgn="ctr">
                        <a:buNone/>
                      </a:pPr>
                      <a:r>
                        <a:rPr lang="en-US" sz="1600" b="1" i="0" u="none" strike="noStrike" dirty="0">
                          <a:solidFill>
                            <a:srgbClr val="000000"/>
                          </a:solidFill>
                          <a:effectLst/>
                          <a:latin typeface="Aptos Narrow" panose="020B0004020202020204" pitchFamily="34" charset="0"/>
                        </a:rPr>
                        <a:t>QC Criteria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600" b="1" i="0" u="none" strike="noStrike" dirty="0">
                          <a:solidFill>
                            <a:srgbClr val="000000"/>
                          </a:solidFill>
                          <a:effectLst/>
                          <a:latin typeface="Aptos Narrow" panose="020B0004020202020204" pitchFamily="34" charset="0"/>
                        </a:rPr>
                        <a:t>PASS/FAIL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600" b="1" i="0" u="none" strike="noStrike">
                          <a:solidFill>
                            <a:srgbClr val="000000"/>
                          </a:solidFill>
                          <a:effectLst/>
                          <a:latin typeface="Aptos Narrow" panose="020B0004020202020204" pitchFamily="34" charset="0"/>
                        </a:rPr>
                        <a:t>Rationale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600" b="1" i="0" u="none" strike="noStrike" dirty="0">
                          <a:solidFill>
                            <a:srgbClr val="000000"/>
                          </a:solidFill>
                          <a:effectLst/>
                          <a:latin typeface="Aptos Narrow" panose="020B0004020202020204" pitchFamily="34" charset="0"/>
                        </a:rPr>
                        <a:t>Revision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80802231"/>
                  </a:ext>
                </a:extLst>
              </a:tr>
              <a:tr h="407938">
                <a:tc>
                  <a:txBody>
                    <a:bodyPr/>
                    <a:lstStyle/>
                    <a:p>
                      <a:pPr algn="ctr" fontAlgn="ctr">
                        <a:buNone/>
                      </a:pPr>
                      <a:r>
                        <a:rPr lang="en-US" sz="1600" b="0" i="0" u="none" strike="noStrike">
                          <a:solidFill>
                            <a:srgbClr val="000000"/>
                          </a:solidFill>
                          <a:effectLst/>
                          <a:latin typeface="Aptos Narrow" panose="020B0004020202020204" pitchFamily="34" charset="0"/>
                        </a:rPr>
                        <a:t>Who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MEETS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dirty="0">
                          <a:solidFill>
                            <a:srgbClr val="000000"/>
                          </a:solidFill>
                          <a:effectLst/>
                          <a:latin typeface="Aptos Narrow" panose="020B0004020202020204" pitchFamily="34" charset="0"/>
                        </a:rPr>
                        <a:t>Names "the Access Management team in coordination with the first-line Business Risk Officer" as responsible parties.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N/A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3777023"/>
                  </a:ext>
                </a:extLst>
              </a:tr>
              <a:tr h="407938">
                <a:tc>
                  <a:txBody>
                    <a:bodyPr/>
                    <a:lstStyle/>
                    <a:p>
                      <a:pPr algn="ctr" fontAlgn="ctr">
                        <a:buNone/>
                      </a:pPr>
                      <a:r>
                        <a:rPr lang="en-US" sz="1600" b="0" i="0" u="none" strike="noStrike">
                          <a:solidFill>
                            <a:srgbClr val="000000"/>
                          </a:solidFill>
                          <a:effectLst/>
                          <a:latin typeface="Aptos Narrow" panose="020B0004020202020204" pitchFamily="34" charset="0"/>
                        </a:rPr>
                        <a:t>What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MEETS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Specifies the control action: "enforces role-based access controls (RBAC) to ensure ... separate and distinct individuals".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N/A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36038917"/>
                  </a:ext>
                </a:extLst>
              </a:tr>
              <a:tr h="679896">
                <a:tc>
                  <a:txBody>
                    <a:bodyPr/>
                    <a:lstStyle/>
                    <a:p>
                      <a:pPr algn="ctr" fontAlgn="ctr">
                        <a:buNone/>
                      </a:pPr>
                      <a:r>
                        <a:rPr lang="en-US" sz="1600" b="0" i="0" u="none" strike="noStrike">
                          <a:solidFill>
                            <a:srgbClr val="000000"/>
                          </a:solidFill>
                          <a:effectLst/>
                          <a:latin typeface="Aptos Narrow" panose="020B0004020202020204" pitchFamily="34" charset="0"/>
                        </a:rPr>
                        <a:t>When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MEETS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Specifies timing: "On an ongoing, continuous basis" and "periodic access reviews conducted no less than quarterly".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N/A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7236384"/>
                  </a:ext>
                </a:extLst>
              </a:tr>
              <a:tr h="679896">
                <a:tc>
                  <a:txBody>
                    <a:bodyPr/>
                    <a:lstStyle/>
                    <a:p>
                      <a:pPr algn="ctr" fontAlgn="ctr">
                        <a:buNone/>
                      </a:pPr>
                      <a:r>
                        <a:rPr lang="en-US" sz="1600" b="0" i="0" u="none" strike="noStrike">
                          <a:solidFill>
                            <a:srgbClr val="000000"/>
                          </a:solidFill>
                          <a:effectLst/>
                          <a:latin typeface="Aptos Narrow" panose="020B0004020202020204" pitchFamily="34" charset="0"/>
                        </a:rPr>
                        <a:t>How</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PARTIALLY MEETS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Describes tools ("IAM platform and core banking ... access control modules") and purpose ("to ensure no single employee retains end-to-end control") but omits exception handling steps (investigation, remediation, escalation, documentation).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Add: "Access Management investigates exceptions, implements remediation or access revocation, documents resolution, and escalates unresolved/high‑risk issues to [PLACEHOLDER: escalation owner]."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9532734"/>
                  </a:ext>
                </a:extLst>
              </a:tr>
              <a:tr h="679896">
                <a:tc>
                  <a:txBody>
                    <a:bodyPr/>
                    <a:lstStyle/>
                    <a:p>
                      <a:pPr algn="ctr" fontAlgn="ctr">
                        <a:buNone/>
                      </a:pPr>
                      <a:r>
                        <a:rPr lang="en-US" sz="1600" b="0" i="0" u="none" strike="noStrike">
                          <a:solidFill>
                            <a:srgbClr val="000000"/>
                          </a:solidFill>
                          <a:effectLst/>
                          <a:latin typeface="Aptos Narrow" panose="020B0004020202020204" pitchFamily="34" charset="0"/>
                        </a:rPr>
                        <a:t>Why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MEETS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States the risk mitigated: preventing "the execution or concealment of unauthorized transactions or financial misstatement".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N/A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6935795"/>
                  </a:ext>
                </a:extLst>
              </a:tr>
              <a:tr h="815876">
                <a:tc>
                  <a:txBody>
                    <a:bodyPr/>
                    <a:lstStyle/>
                    <a:p>
                      <a:pPr algn="ctr" fontAlgn="ctr">
                        <a:buNone/>
                      </a:pPr>
                      <a:r>
                        <a:rPr lang="en-US" sz="1600" b="0" i="0" u="none" strike="noStrike">
                          <a:solidFill>
                            <a:srgbClr val="000000"/>
                          </a:solidFill>
                          <a:effectLst/>
                          <a:latin typeface="Aptos Narrow" panose="020B0004020202020204" pitchFamily="34" charset="0"/>
                        </a:rPr>
                        <a:t>Evidence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DOES NOT MEET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References systems but does not specify evidence artifacts or storage location (e.g., review reports, audit logs, repository, retention).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dirty="0">
                          <a:solidFill>
                            <a:srgbClr val="000000"/>
                          </a:solidFill>
                          <a:effectLst/>
                          <a:latin typeface="Aptos Narrow" panose="020B0004020202020204" pitchFamily="34" charset="0"/>
                        </a:rPr>
                        <a:t>Add: "Evidence: quarterly access review reports and IAM audit logs retained in [PLACEHOLDER: evidence repository] and available for audit."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8991117"/>
                  </a:ext>
                </a:extLst>
              </a:tr>
            </a:tbl>
          </a:graphicData>
        </a:graphic>
      </p:graphicFrame>
    </p:spTree>
    <p:extLst>
      <p:ext uri="{BB962C8B-B14F-4D97-AF65-F5344CB8AC3E}">
        <p14:creationId xmlns:p14="http://schemas.microsoft.com/office/powerpoint/2010/main" val="418207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BBB4D-C7FB-779D-6ACF-50D28EDDF2CF}"/>
              </a:ext>
            </a:extLst>
          </p:cNvPr>
          <p:cNvSpPr>
            <a:spLocks noGrp="1"/>
          </p:cNvSpPr>
          <p:nvPr>
            <p:ph type="title"/>
          </p:nvPr>
        </p:nvSpPr>
        <p:spPr>
          <a:xfrm>
            <a:off x="838200" y="365126"/>
            <a:ext cx="10515600" cy="726256"/>
          </a:xfrm>
        </p:spPr>
        <p:txBody>
          <a:bodyPr/>
          <a:lstStyle/>
          <a:p>
            <a:r>
              <a:rPr lang="en-US" dirty="0"/>
              <a:t>Overall Assessment Table</a:t>
            </a:r>
          </a:p>
        </p:txBody>
      </p:sp>
      <p:graphicFrame>
        <p:nvGraphicFramePr>
          <p:cNvPr id="7" name="Table 6">
            <a:extLst>
              <a:ext uri="{FF2B5EF4-FFF2-40B4-BE49-F238E27FC236}">
                <a16:creationId xmlns:a16="http://schemas.microsoft.com/office/drawing/2014/main" id="{C4189919-78EA-464B-8774-1F6516951CD3}"/>
              </a:ext>
            </a:extLst>
          </p:cNvPr>
          <p:cNvGraphicFramePr>
            <a:graphicFrameLocks noGrp="1"/>
          </p:cNvGraphicFramePr>
          <p:nvPr>
            <p:extLst>
              <p:ext uri="{D42A27DB-BD31-4B8C-83A1-F6EECF244321}">
                <p14:modId xmlns:p14="http://schemas.microsoft.com/office/powerpoint/2010/main" val="1534804728"/>
              </p:ext>
            </p:extLst>
          </p:nvPr>
        </p:nvGraphicFramePr>
        <p:xfrm>
          <a:off x="1814049" y="1222611"/>
          <a:ext cx="8632723" cy="2741295"/>
        </p:xfrm>
        <a:graphic>
          <a:graphicData uri="http://schemas.openxmlformats.org/drawingml/2006/table">
            <a:tbl>
              <a:tblPr/>
              <a:tblGrid>
                <a:gridCol w="2088139">
                  <a:extLst>
                    <a:ext uri="{9D8B030D-6E8A-4147-A177-3AD203B41FA5}">
                      <a16:colId xmlns:a16="http://schemas.microsoft.com/office/drawing/2014/main" val="288142914"/>
                    </a:ext>
                  </a:extLst>
                </a:gridCol>
                <a:gridCol w="1405936">
                  <a:extLst>
                    <a:ext uri="{9D8B030D-6E8A-4147-A177-3AD203B41FA5}">
                      <a16:colId xmlns:a16="http://schemas.microsoft.com/office/drawing/2014/main" val="2058563953"/>
                    </a:ext>
                  </a:extLst>
                </a:gridCol>
                <a:gridCol w="5138648">
                  <a:extLst>
                    <a:ext uri="{9D8B030D-6E8A-4147-A177-3AD203B41FA5}">
                      <a16:colId xmlns:a16="http://schemas.microsoft.com/office/drawing/2014/main" val="4189045261"/>
                    </a:ext>
                  </a:extLst>
                </a:gridCol>
              </a:tblGrid>
              <a:tr h="190500">
                <a:tc>
                  <a:txBody>
                    <a:bodyPr/>
                    <a:lstStyle/>
                    <a:p>
                      <a:pPr algn="ctr" fontAlgn="ctr">
                        <a:buNone/>
                      </a:pPr>
                      <a:r>
                        <a:rPr lang="en-US" sz="1600" b="1" i="0" u="none" strike="noStrike">
                          <a:solidFill>
                            <a:srgbClr val="000000"/>
                          </a:solidFill>
                          <a:effectLst/>
                          <a:latin typeface="Aptos Narrow" panose="020B0004020202020204" pitchFamily="34" charset="0"/>
                        </a:rPr>
                        <a:t>QC Type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600" b="1" i="0" u="none" strike="noStrike">
                          <a:solidFill>
                            <a:srgbClr val="000000"/>
                          </a:solidFill>
                          <a:effectLst/>
                          <a:latin typeface="Aptos Narrow" panose="020B0004020202020204" pitchFamily="34" charset="0"/>
                        </a:rPr>
                        <a:t>PASS/FAIL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1600" b="1" i="0" u="none" strike="noStrike">
                          <a:solidFill>
                            <a:srgbClr val="000000"/>
                          </a:solidFill>
                          <a:effectLst/>
                          <a:latin typeface="Aptos Narrow" panose="020B0004020202020204" pitchFamily="34" charset="0"/>
                        </a:rPr>
                        <a:t>Rationale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599598082"/>
                  </a:ext>
                </a:extLst>
              </a:tr>
              <a:tr h="571500">
                <a:tc>
                  <a:txBody>
                    <a:bodyPr/>
                    <a:lstStyle/>
                    <a:p>
                      <a:pPr algn="ctr" fontAlgn="ctr">
                        <a:buNone/>
                      </a:pPr>
                      <a:r>
                        <a:rPr lang="en-US" sz="1600" b="0" i="0" u="none" strike="noStrike">
                          <a:solidFill>
                            <a:srgbClr val="000000"/>
                          </a:solidFill>
                          <a:effectLst/>
                          <a:latin typeface="Aptos Narrow" panose="020B0004020202020204" pitchFamily="34" charset="0"/>
                        </a:rPr>
                        <a:t>FRASA Control Requirements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PARTIALLY MEETS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Frequency, Responsible Party, Activity, and Source are explicit; Action Taken lacks explicit follow-up steps for exceptions, so FRASA is partially met.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0936882"/>
                  </a:ext>
                </a:extLst>
              </a:tr>
              <a:tr h="762000">
                <a:tc>
                  <a:txBody>
                    <a:bodyPr/>
                    <a:lstStyle/>
                    <a:p>
                      <a:pPr algn="ctr" fontAlgn="ctr">
                        <a:buNone/>
                      </a:pPr>
                      <a:r>
                        <a:rPr lang="en-US" sz="1600" b="0" i="0" u="none" strike="noStrike">
                          <a:solidFill>
                            <a:srgbClr val="000000"/>
                          </a:solidFill>
                          <a:effectLst/>
                          <a:latin typeface="Aptos Narrow" panose="020B0004020202020204" pitchFamily="34" charset="0"/>
                        </a:rPr>
                        <a:t>Internal QC Standards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PARTIALLY MEETS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Who, What, When, and Why are present; How and Evidence reference tools but lack explicit exception handling and evidence storage details.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95770894"/>
                  </a:ext>
                </a:extLst>
              </a:tr>
              <a:tr h="762000">
                <a:tc>
                  <a:txBody>
                    <a:bodyPr/>
                    <a:lstStyle/>
                    <a:p>
                      <a:pPr algn="ctr" fontAlgn="ctr">
                        <a:buNone/>
                      </a:pPr>
                      <a:r>
                        <a:rPr lang="en-US" sz="1600" b="0" i="0" u="none" strike="noStrike">
                          <a:solidFill>
                            <a:srgbClr val="000000"/>
                          </a:solidFill>
                          <a:effectLst/>
                          <a:latin typeface="Aptos Narrow" panose="020B0004020202020204" pitchFamily="34" charset="0"/>
                        </a:rPr>
                        <a:t>Overall Assessment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a:solidFill>
                            <a:srgbClr val="000000"/>
                          </a:solidFill>
                          <a:effectLst/>
                          <a:latin typeface="Aptos Narrow" panose="020B0004020202020204" pitchFamily="34" charset="0"/>
                        </a:rPr>
                        <a:t>PARTIALLY MEETS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600" b="0" i="0" u="none" strike="noStrike" dirty="0">
                          <a:solidFill>
                            <a:srgbClr val="000000"/>
                          </a:solidFill>
                          <a:effectLst/>
                          <a:latin typeface="Aptos Narrow" panose="020B0004020202020204" pitchFamily="34" charset="0"/>
                        </a:rPr>
                        <a:t>Control is well‑written and covers most elements and systems, but must add explicit exception handling (investigation, remediation, revocation, escalation, tracking, timeframes) and specify evidence artifacts and storage location to fully comply.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0937190"/>
                  </a:ext>
                </a:extLst>
              </a:tr>
            </a:tbl>
          </a:graphicData>
        </a:graphic>
      </p:graphicFrame>
      <p:sp>
        <p:nvSpPr>
          <p:cNvPr id="9" name="TextBox 8">
            <a:extLst>
              <a:ext uri="{FF2B5EF4-FFF2-40B4-BE49-F238E27FC236}">
                <a16:creationId xmlns:a16="http://schemas.microsoft.com/office/drawing/2014/main" id="{B45458FA-0838-075D-B92B-E69440933C47}"/>
              </a:ext>
            </a:extLst>
          </p:cNvPr>
          <p:cNvSpPr txBox="1"/>
          <p:nvPr/>
        </p:nvSpPr>
        <p:spPr>
          <a:xfrm>
            <a:off x="167145" y="4180789"/>
            <a:ext cx="11926529" cy="2585323"/>
          </a:xfrm>
          <a:prstGeom prst="rect">
            <a:avLst/>
          </a:prstGeom>
          <a:noFill/>
        </p:spPr>
        <p:txBody>
          <a:bodyPr wrap="square">
            <a:spAutoFit/>
          </a:bodyPr>
          <a:lstStyle/>
          <a:p>
            <a:pPr algn="ctr">
              <a:buNone/>
            </a:pPr>
            <a:r>
              <a:rPr lang="en-US" dirty="0"/>
              <a:t>Access Management team, in coordination with the first-line Business Risk Officer, enforces role‑based access controls (RBAC) on an ongoing, continuous basis to ensure initiation, authorization, recording, and reconciliation of financial transactions are assigned to separate individuals. Periodic access reviews are conducted no less than quarterly using the institution's Identity and Access Management (IAM) platform and core banking transaction processing system access control modules to validate continued role segregation. Exceptions identified during reviews are investigated by Access Management; access is revoked or remediated, remediation is documented and tracked in [PLACEHOLDER: tracking system], and unresolved or high‑risk issues are escalated to [PLACEHOLDER: escalation owner] for remediation within [PLACEHOLDER: timeframe]. Evidence of reviews and actions (quarterly access review reports and IAM audit logs) is retained in [PLACEHOLDER: evidence repository] and made available for audit.</a:t>
            </a:r>
          </a:p>
        </p:txBody>
      </p:sp>
    </p:spTree>
    <p:extLst>
      <p:ext uri="{BB962C8B-B14F-4D97-AF65-F5344CB8AC3E}">
        <p14:creationId xmlns:p14="http://schemas.microsoft.com/office/powerpoint/2010/main" val="548668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B1EBD-18BC-E9CA-6172-4D40ABD50214}"/>
              </a:ext>
            </a:extLst>
          </p:cNvPr>
          <p:cNvSpPr>
            <a:spLocks noGrp="1"/>
          </p:cNvSpPr>
          <p:nvPr>
            <p:ph type="title"/>
          </p:nvPr>
        </p:nvSpPr>
        <p:spPr/>
        <p:txBody>
          <a:bodyPr/>
          <a:lstStyle/>
          <a:p>
            <a:r>
              <a:rPr lang="en-US" dirty="0"/>
              <a:t>Prompt</a:t>
            </a:r>
          </a:p>
        </p:txBody>
      </p:sp>
      <p:sp>
        <p:nvSpPr>
          <p:cNvPr id="13" name="TextBox 12">
            <a:extLst>
              <a:ext uri="{FF2B5EF4-FFF2-40B4-BE49-F238E27FC236}">
                <a16:creationId xmlns:a16="http://schemas.microsoft.com/office/drawing/2014/main" id="{D5A16813-8E1A-C683-F99C-5C83ADC701E7}"/>
              </a:ext>
            </a:extLst>
          </p:cNvPr>
          <p:cNvSpPr txBox="1"/>
          <p:nvPr/>
        </p:nvSpPr>
        <p:spPr>
          <a:xfrm>
            <a:off x="838200" y="1027906"/>
            <a:ext cx="46023810" cy="21651183"/>
          </a:xfrm>
          <a:prstGeom prst="rect">
            <a:avLst/>
          </a:prstGeom>
          <a:noFill/>
        </p:spPr>
        <p:txBody>
          <a:bodyPr wrap="square">
            <a:spAutoFit/>
          </a:bodyPr>
          <a:lstStyle/>
          <a:p>
            <a:pPr>
              <a:lnSpc>
                <a:spcPts val="1425"/>
              </a:lnSpc>
              <a:buNone/>
            </a:pPr>
            <a:r>
              <a:rPr lang="en-US" b="0" dirty="0">
                <a:solidFill>
                  <a:srgbClr val="CCCCCC"/>
                </a:solidFill>
                <a:effectLst/>
                <a:latin typeface="Consolas" panose="020B0609020204030204" pitchFamily="49" charset="0"/>
              </a:rPr>
              <a:t>You are an </a:t>
            </a:r>
            <a:r>
              <a:rPr lang="en-US" b="1" dirty="0">
                <a:solidFill>
                  <a:srgbClr val="569CD6"/>
                </a:solidFill>
                <a:effectLst/>
                <a:latin typeface="Consolas" panose="020B0609020204030204" pitchFamily="49" charset="0"/>
              </a:rPr>
              <a:t>**Internal Auditor**</a:t>
            </a:r>
            <a:r>
              <a:rPr lang="en-US" b="0" dirty="0">
                <a:solidFill>
                  <a:srgbClr val="CCCCCC"/>
                </a:solidFill>
                <a:effectLst/>
                <a:latin typeface="Consolas" panose="020B0609020204030204" pitchFamily="49" charset="0"/>
              </a:rPr>
              <a:t> at a top US bank performing Quality Control (QC) on Risk and Control Self Assessment (RCSA) control descriptions.</a:t>
            </a: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425"/>
              </a:lnSpc>
              <a:buNone/>
            </a:pPr>
            <a:r>
              <a:rPr lang="en-US" b="1" dirty="0">
                <a:solidFill>
                  <a:srgbClr val="569CD6"/>
                </a:solidFill>
                <a:effectLst/>
                <a:latin typeface="Consolas" panose="020B0609020204030204" pitchFamily="49" charset="0"/>
              </a:rPr>
              <a:t>**Do not respond until the user supplies the required JSON input.**</a:t>
            </a:r>
            <a:endParaRPr lang="en-US" b="0" dirty="0">
              <a:solidFill>
                <a:srgbClr val="CCCCCC"/>
              </a:solidFill>
              <a:effectLst/>
              <a:latin typeface="Consolas" panose="020B0609020204030204" pitchFamily="49" charset="0"/>
            </a:endParaRP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425"/>
              </a:lnSpc>
              <a:buNone/>
            </a:pPr>
            <a:r>
              <a:rPr lang="en-US" b="1" dirty="0">
                <a:solidFill>
                  <a:srgbClr val="569CD6"/>
                </a:solidFill>
                <a:effectLst/>
                <a:latin typeface="Consolas" panose="020B0609020204030204" pitchFamily="49" charset="0"/>
              </a:rPr>
              <a:t>**Required input (single JSON string):**</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a:t>
            </a:r>
            <a:r>
              <a:rPr lang="en-US" b="0" dirty="0" err="1">
                <a:solidFill>
                  <a:srgbClr val="CCCCCC"/>
                </a:solidFill>
                <a:effectLst/>
                <a:latin typeface="Consolas" panose="020B0609020204030204" pitchFamily="49" charset="0"/>
              </a:rPr>
              <a:t>json</a:t>
            </a:r>
            <a:endParaRPr lang="en-US" b="0" dirty="0">
              <a:solidFill>
                <a:srgbClr val="CCCCCC"/>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risk_description</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"&lt;text&gt;"</a:t>
            </a:r>
            <a:r>
              <a:rPr lang="en-US" b="0" dirty="0">
                <a:solidFill>
                  <a:srgbClr val="D4D4D4"/>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a:t>
            </a:r>
            <a:r>
              <a:rPr lang="en-US" b="0" dirty="0" err="1">
                <a:solidFill>
                  <a:srgbClr val="9CDCFE"/>
                </a:solidFill>
                <a:effectLst/>
                <a:latin typeface="Consolas" panose="020B0609020204030204" pitchFamily="49" charset="0"/>
              </a:rPr>
              <a:t>control_description</a:t>
            </a:r>
            <a:r>
              <a:rPr lang="en-US" b="0" dirty="0">
                <a:solidFill>
                  <a:srgbClr val="9CDCFE"/>
                </a:solidFill>
                <a:effectLst/>
                <a:latin typeface="Consolas" panose="020B0609020204030204" pitchFamily="49" charset="0"/>
              </a:rPr>
              <a:t>"</a:t>
            </a:r>
            <a:r>
              <a:rPr lang="en-US" b="0" dirty="0">
                <a:solidFill>
                  <a:srgbClr val="D4D4D4"/>
                </a:solidFill>
                <a:effectLst/>
                <a:latin typeface="Consolas" panose="020B0609020204030204" pitchFamily="49" charset="0"/>
              </a:rPr>
              <a:t>: </a:t>
            </a:r>
            <a:r>
              <a:rPr lang="en-US" b="0" dirty="0">
                <a:solidFill>
                  <a:srgbClr val="CE9178"/>
                </a:solidFill>
                <a:effectLst/>
                <a:latin typeface="Consolas" panose="020B0609020204030204" pitchFamily="49" charset="0"/>
              </a:rPr>
              <a:t>"&lt;text&gt;"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D4D4D4"/>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a:t>
            </a: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425"/>
              </a:lnSpc>
              <a:buNone/>
            </a:pPr>
            <a:r>
              <a:rPr lang="en-US" b="1" dirty="0">
                <a:solidFill>
                  <a:srgbClr val="569CD6"/>
                </a:solidFill>
                <a:effectLst/>
                <a:latin typeface="Consolas" panose="020B0609020204030204" pitchFamily="49" charset="0"/>
              </a:rPr>
              <a:t>**Objective:**</a:t>
            </a:r>
            <a:r>
              <a:rPr lang="en-US" b="0" dirty="0">
                <a:solidFill>
                  <a:srgbClr val="CCCCCC"/>
                </a:solidFill>
                <a:effectLst/>
                <a:latin typeface="Consolas" panose="020B0609020204030204" pitchFamily="49" charset="0"/>
              </a:rPr>
              <a:t> Evaluate the provided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control_description</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against the FRASA Control Requirements and the Internal QC Standards and produce a concise, evidence‑anchored QC report and a fully revised control description.</a:t>
            </a: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425"/>
              </a:lnSpc>
              <a:buNone/>
            </a:pPr>
            <a:r>
              <a:rPr lang="en-US" b="1" dirty="0">
                <a:solidFill>
                  <a:srgbClr val="569CD6"/>
                </a:solidFill>
                <a:effectLst/>
                <a:latin typeface="Consolas" panose="020B0609020204030204" pitchFamily="49" charset="0"/>
              </a:rPr>
              <a:t>**Good Control Example:**</a:t>
            </a:r>
            <a:endParaRPr lang="en-US" b="0" dirty="0">
              <a:solidFill>
                <a:srgbClr val="CCCCCC"/>
              </a:solidFill>
              <a:effectLst/>
              <a:latin typeface="Consolas" panose="020B0609020204030204" pitchFamily="49" charset="0"/>
            </a:endParaRPr>
          </a:p>
          <a:p>
            <a:pPr>
              <a:lnSpc>
                <a:spcPts val="1425"/>
              </a:lnSpc>
              <a:buNone/>
            </a:pPr>
            <a:r>
              <a:rPr lang="en-US" b="0" dirty="0">
                <a:solidFill>
                  <a:srgbClr val="CCCCCC"/>
                </a:solidFill>
                <a:effectLst/>
                <a:latin typeface="Consolas" panose="020B0609020204030204" pitchFamily="49" charset="0"/>
              </a:rPr>
              <a:t>To mitigate the client potentially breaching approved limits on manually entered trades, WSS (Wall Street System) auto-checks each trade to confirm it is within appropriate limit guidelines (including pre-settlement, settlement, and tenor) and alerts the trader of breached limits before submitting the trade. Evidence is demonstrated on daily WSS exception reports.</a:t>
            </a: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425"/>
              </a:lnSpc>
              <a:buNone/>
            </a:pPr>
            <a:r>
              <a:rPr lang="en-US" b="1" dirty="0">
                <a:solidFill>
                  <a:srgbClr val="569CD6"/>
                </a:solidFill>
                <a:effectLst/>
                <a:latin typeface="Consolas" panose="020B0609020204030204" pitchFamily="49" charset="0"/>
              </a:rPr>
              <a:t>**FRASA Control Requirements (each control description must explicitly address all five):**</a:t>
            </a:r>
            <a:endParaRPr lang="en-US" b="0" dirty="0">
              <a:solidFill>
                <a:srgbClr val="CCCCCC"/>
              </a:solidFill>
              <a:effectLst/>
              <a:latin typeface="Consolas" panose="020B0609020204030204" pitchFamily="49" charset="0"/>
            </a:endParaRPr>
          </a:p>
          <a:p>
            <a:pPr>
              <a:lnSpc>
                <a:spcPts val="1425"/>
              </a:lnSpc>
              <a:buNone/>
            </a:pPr>
            <a:r>
              <a:rPr lang="en-US" b="0" dirty="0">
                <a:solidFill>
                  <a:srgbClr val="6796E6"/>
                </a:solidFill>
                <a:effectLst/>
                <a:latin typeface="Consolas" panose="020B0609020204030204" pitchFamily="49" charset="0"/>
              </a:rPr>
              <a:t>1.</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**Frequency**</a:t>
            </a:r>
            <a:r>
              <a:rPr lang="en-US" b="0" dirty="0">
                <a:solidFill>
                  <a:srgbClr val="CCCCCC"/>
                </a:solidFill>
                <a:effectLst/>
                <a:latin typeface="Consolas" panose="020B0609020204030204" pitchFamily="49" charset="0"/>
              </a:rPr>
              <a:t> — how often the control is performed.</a:t>
            </a:r>
          </a:p>
          <a:p>
            <a:pPr>
              <a:lnSpc>
                <a:spcPts val="1425"/>
              </a:lnSpc>
              <a:buNone/>
            </a:pPr>
            <a:r>
              <a:rPr lang="en-US" b="0" dirty="0">
                <a:solidFill>
                  <a:srgbClr val="6796E6"/>
                </a:solidFill>
                <a:effectLst/>
                <a:latin typeface="Consolas" panose="020B0609020204030204" pitchFamily="49" charset="0"/>
              </a:rPr>
              <a:t>2.</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**Responsible Party**</a:t>
            </a:r>
            <a:r>
              <a:rPr lang="en-US" b="0" dirty="0">
                <a:solidFill>
                  <a:srgbClr val="CCCCCC"/>
                </a:solidFill>
                <a:effectLst/>
                <a:latin typeface="Consolas" panose="020B0609020204030204" pitchFamily="49" charset="0"/>
              </a:rPr>
              <a:t> — who performs the control.</a:t>
            </a:r>
          </a:p>
          <a:p>
            <a:pPr>
              <a:lnSpc>
                <a:spcPts val="1425"/>
              </a:lnSpc>
              <a:buNone/>
            </a:pPr>
            <a:r>
              <a:rPr lang="en-US" b="0" dirty="0">
                <a:solidFill>
                  <a:srgbClr val="6796E6"/>
                </a:solidFill>
                <a:effectLst/>
                <a:latin typeface="Consolas" panose="020B0609020204030204" pitchFamily="49" charset="0"/>
              </a:rPr>
              <a:t>3.</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**Activity**</a:t>
            </a:r>
            <a:r>
              <a:rPr lang="en-US" b="0" dirty="0">
                <a:solidFill>
                  <a:srgbClr val="CCCCCC"/>
                </a:solidFill>
                <a:effectLst/>
                <a:latin typeface="Consolas" panose="020B0609020204030204" pitchFamily="49" charset="0"/>
              </a:rPr>
              <a:t> — the specific risk‑mitigating action(s).</a:t>
            </a:r>
          </a:p>
          <a:p>
            <a:pPr>
              <a:lnSpc>
                <a:spcPts val="1425"/>
              </a:lnSpc>
              <a:buNone/>
            </a:pPr>
            <a:r>
              <a:rPr lang="en-US" b="0" dirty="0">
                <a:solidFill>
                  <a:srgbClr val="6796E6"/>
                </a:solidFill>
                <a:effectLst/>
                <a:latin typeface="Consolas" panose="020B0609020204030204" pitchFamily="49" charset="0"/>
              </a:rPr>
              <a:t>4.</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**Source**</a:t>
            </a:r>
            <a:r>
              <a:rPr lang="en-US" b="0" dirty="0">
                <a:solidFill>
                  <a:srgbClr val="CCCCCC"/>
                </a:solidFill>
                <a:effectLst/>
                <a:latin typeface="Consolas" panose="020B0609020204030204" pitchFamily="49" charset="0"/>
              </a:rPr>
              <a:t> — information or data sources used.</a:t>
            </a:r>
          </a:p>
          <a:p>
            <a:pPr>
              <a:lnSpc>
                <a:spcPts val="1425"/>
              </a:lnSpc>
              <a:buNone/>
            </a:pPr>
            <a:r>
              <a:rPr lang="en-US" b="0" dirty="0">
                <a:solidFill>
                  <a:srgbClr val="6796E6"/>
                </a:solidFill>
                <a:effectLst/>
                <a:latin typeface="Consolas" panose="020B0609020204030204" pitchFamily="49" charset="0"/>
              </a:rPr>
              <a:t>5.</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**Action Taken**</a:t>
            </a:r>
            <a:r>
              <a:rPr lang="en-US" b="0" dirty="0">
                <a:solidFill>
                  <a:srgbClr val="CCCCCC"/>
                </a:solidFill>
                <a:effectLst/>
                <a:latin typeface="Consolas" panose="020B0609020204030204" pitchFamily="49" charset="0"/>
              </a:rPr>
              <a:t> — follow‑up actions based on control results.</a:t>
            </a: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425"/>
              </a:lnSpc>
              <a:buNone/>
            </a:pPr>
            <a:r>
              <a:rPr lang="en-US" b="1" dirty="0">
                <a:solidFill>
                  <a:srgbClr val="569CD6"/>
                </a:solidFill>
                <a:effectLst/>
                <a:latin typeface="Consolas" panose="020B0609020204030204" pitchFamily="49" charset="0"/>
              </a:rPr>
              <a:t>**Internal QC Standards (control description must be clear, ≤6 sentences, and include):**</a:t>
            </a:r>
            <a:endParaRPr lang="en-US" b="0" dirty="0">
              <a:solidFill>
                <a:srgbClr val="CCCCCC"/>
              </a:solidFill>
              <a:effectLst/>
              <a:latin typeface="Consolas" panose="020B0609020204030204" pitchFamily="49" charset="0"/>
            </a:endParaRP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**Who**</a:t>
            </a:r>
            <a:r>
              <a:rPr lang="en-US" b="0" dirty="0">
                <a:solidFill>
                  <a:srgbClr val="CCCCCC"/>
                </a:solidFill>
                <a:effectLst/>
                <a:latin typeface="Consolas" panose="020B0609020204030204" pitchFamily="49" charset="0"/>
              </a:rPr>
              <a:t> — responsible party or system.</a:t>
            </a: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**What**</a:t>
            </a:r>
            <a:r>
              <a:rPr lang="en-US" b="0" dirty="0">
                <a:solidFill>
                  <a:srgbClr val="CCCCCC"/>
                </a:solidFill>
                <a:effectLst/>
                <a:latin typeface="Consolas" panose="020B0609020204030204" pitchFamily="49" charset="0"/>
              </a:rPr>
              <a:t> — brief description of the control action (Review, Approve, Authenticate, etc.). Exclude unrelated process steps.</a:t>
            </a: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**When**</a:t>
            </a:r>
            <a:r>
              <a:rPr lang="en-US" b="0" dirty="0">
                <a:solidFill>
                  <a:srgbClr val="CCCCCC"/>
                </a:solidFill>
                <a:effectLst/>
                <a:latin typeface="Consolas" panose="020B0609020204030204" pitchFamily="49" charset="0"/>
              </a:rPr>
              <a:t> — execution timing or frequency.</a:t>
            </a: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**How**</a:t>
            </a:r>
            <a:r>
              <a:rPr lang="en-US" b="0" dirty="0">
                <a:solidFill>
                  <a:srgbClr val="CCCCCC"/>
                </a:solidFill>
                <a:effectLst/>
                <a:latin typeface="Consolas" panose="020B0609020204030204" pitchFamily="49" charset="0"/>
              </a:rPr>
              <a:t> — how the control mitigates risk and actions taken on exceptions (research, resolution, escalation).</a:t>
            </a: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**Why**</a:t>
            </a:r>
            <a:r>
              <a:rPr lang="en-US" b="0" dirty="0">
                <a:solidFill>
                  <a:srgbClr val="CCCCCC"/>
                </a:solidFill>
                <a:effectLst/>
                <a:latin typeface="Consolas" panose="020B0609020204030204" pitchFamily="49" charset="0"/>
              </a:rPr>
              <a:t> — the risk being mitigated.</a:t>
            </a: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**Evidence**</a:t>
            </a:r>
            <a:r>
              <a:rPr lang="en-US" b="0" dirty="0">
                <a:solidFill>
                  <a:srgbClr val="CCCCCC"/>
                </a:solidFill>
                <a:effectLst/>
                <a:latin typeface="Consolas" panose="020B0609020204030204" pitchFamily="49" charset="0"/>
              </a:rPr>
              <a:t> — documentation or system evidence and storage location.</a:t>
            </a: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425"/>
              </a:lnSpc>
              <a:buNone/>
            </a:pPr>
            <a:r>
              <a:rPr lang="en-US" b="1" dirty="0">
                <a:solidFill>
                  <a:srgbClr val="569CD6"/>
                </a:solidFill>
                <a:effectLst/>
                <a:latin typeface="Consolas" panose="020B0609020204030204" pitchFamily="49" charset="0"/>
              </a:rPr>
              <a:t>**Evaluation rules:**</a:t>
            </a:r>
            <a:endParaRPr lang="en-US" b="0" dirty="0">
              <a:solidFill>
                <a:srgbClr val="CCCCCC"/>
              </a:solidFill>
              <a:effectLst/>
              <a:latin typeface="Consolas" panose="020B0609020204030204" pitchFamily="49" charset="0"/>
            </a:endParaRP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Use only the user’s provided information; do not invent facts.</a:t>
            </a: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If an element cannot be evaluated from the input, mark it </a:t>
            </a:r>
            <a:r>
              <a:rPr lang="en-US" b="1" dirty="0">
                <a:solidFill>
                  <a:srgbClr val="569CD6"/>
                </a:solidFill>
                <a:effectLst/>
                <a:latin typeface="Consolas" panose="020B0609020204030204" pitchFamily="49" charset="0"/>
              </a:rPr>
              <a:t>**DOES NOT MEET**</a:t>
            </a:r>
            <a:r>
              <a:rPr lang="en-US" b="0" dirty="0">
                <a:solidFill>
                  <a:srgbClr val="CCCCCC"/>
                </a:solidFill>
                <a:effectLst/>
                <a:latin typeface="Consolas" panose="020B0609020204030204" pitchFamily="49" charset="0"/>
              </a:rPr>
              <a:t>.</a:t>
            </a: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Do not ask questions.</a:t>
            </a: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Reference the example good control description style when judging clarity and structure.</a:t>
            </a: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Each control description must address all five FRASA elements and satisfy all Internal QC elements to </a:t>
            </a:r>
            <a:r>
              <a:rPr lang="en-US" b="1" dirty="0">
                <a:solidFill>
                  <a:srgbClr val="569CD6"/>
                </a:solidFill>
                <a:effectLst/>
                <a:latin typeface="Consolas" panose="020B0609020204030204" pitchFamily="49" charset="0"/>
              </a:rPr>
              <a:t>**MEET**</a:t>
            </a:r>
            <a:r>
              <a:rPr lang="en-US" b="0" dirty="0">
                <a:solidFill>
                  <a:srgbClr val="CCCCCC"/>
                </a:solidFill>
                <a:effectLst/>
                <a:latin typeface="Consolas" panose="020B0609020204030204" pitchFamily="49" charset="0"/>
              </a:rPr>
              <a:t> standards.</a:t>
            </a: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425"/>
              </a:lnSpc>
              <a:buNone/>
            </a:pPr>
            <a:r>
              <a:rPr lang="en-US" b="1" dirty="0">
                <a:solidFill>
                  <a:srgbClr val="569CD6"/>
                </a:solidFill>
                <a:effectLst/>
                <a:latin typeface="Consolas" panose="020B0609020204030204" pitchFamily="49" charset="0"/>
              </a:rPr>
              <a:t>**Output — return only the following four items, in this exact order, and a markdown file that can be used to render the results  outside copilot. DO NOT RETURN ANYTHING ELSE:**</a:t>
            </a:r>
            <a:endParaRPr lang="en-US" b="0" dirty="0">
              <a:solidFill>
                <a:srgbClr val="CCCCCC"/>
              </a:solidFill>
              <a:effectLst/>
              <a:latin typeface="Consolas" panose="020B0609020204030204" pitchFamily="49" charset="0"/>
            </a:endParaRP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425"/>
              </a:lnSpc>
              <a:buNone/>
            </a:pPr>
            <a:r>
              <a:rPr lang="en-US" b="0" dirty="0">
                <a:solidFill>
                  <a:srgbClr val="6796E6"/>
                </a:solidFill>
                <a:effectLst/>
                <a:latin typeface="Consolas" panose="020B0609020204030204" pitchFamily="49" charset="0"/>
              </a:rPr>
              <a:t>1.</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**FRASA Quality Control Report**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Create a Markdown table with columns:  </a:t>
            </a:r>
          </a:p>
          <a:p>
            <a:pPr>
              <a:lnSpc>
                <a:spcPts val="1425"/>
              </a:lnSpc>
              <a:buNone/>
            </a:pP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QC </a:t>
            </a:r>
            <a:r>
              <a:rPr lang="en-US" b="0" dirty="0" err="1">
                <a:solidFill>
                  <a:srgbClr val="CE9178"/>
                </a:solidFill>
                <a:effectLst/>
                <a:latin typeface="Consolas" panose="020B0609020204030204" pitchFamily="49" charset="0"/>
              </a:rPr>
              <a:t>Critera</a:t>
            </a:r>
            <a:r>
              <a:rPr lang="en-US" b="0" dirty="0">
                <a:solidFill>
                  <a:srgbClr val="CE9178"/>
                </a:solidFill>
                <a:effectLst/>
                <a:latin typeface="Consolas" panose="020B0609020204030204" pitchFamily="49" charset="0"/>
              </a:rPr>
              <a:t>| PASS/FAIL | Rationale | Revision |`</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Include one row per FRASA requirement (Frequency, Responsible Party, Activity, Source, Action Taken).  </a:t>
            </a:r>
          </a:p>
          <a:p>
            <a:pPr>
              <a:lnSpc>
                <a:spcPts val="1425"/>
              </a:lnSpc>
              <a:buNone/>
            </a:pPr>
            <a:r>
              <a:rPr lang="en-US" b="0" dirty="0">
                <a:solidFill>
                  <a:srgbClr val="CCCCCC"/>
                </a:solidFill>
                <a:effectLst/>
                <a:latin typeface="Consolas" panose="020B0609020204030204" pitchFamily="49" charset="0"/>
              </a:rPr>
              <a:t>   </a:t>
            </a: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For each row, set </a:t>
            </a:r>
            <a:r>
              <a:rPr lang="en-US" b="1" dirty="0">
                <a:solidFill>
                  <a:srgbClr val="569CD6"/>
                </a:solidFill>
                <a:effectLst/>
                <a:latin typeface="Consolas" panose="020B0609020204030204" pitchFamily="49" charset="0"/>
              </a:rPr>
              <a:t>**PASS/FAIL**</a:t>
            </a:r>
            <a:r>
              <a:rPr lang="en-US" b="0" dirty="0">
                <a:solidFill>
                  <a:srgbClr val="CCCCCC"/>
                </a:solidFill>
                <a:effectLst/>
                <a:latin typeface="Consolas" panose="020B0609020204030204" pitchFamily="49" charset="0"/>
              </a:rPr>
              <a:t> to exactly one of: </a:t>
            </a:r>
            <a:r>
              <a:rPr lang="en-US" b="0" dirty="0">
                <a:solidFill>
                  <a:srgbClr val="CE9178"/>
                </a:solidFill>
                <a:effectLst/>
                <a:latin typeface="Consolas" panose="020B0609020204030204" pitchFamily="49" charset="0"/>
              </a:rPr>
              <a:t>`MEETS`</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`PARTIALLY MEETS`</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`DOES NOT MEET`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**RATIONALE**</a:t>
            </a:r>
            <a:r>
              <a:rPr lang="en-US" b="0" dirty="0">
                <a:solidFill>
                  <a:srgbClr val="CCCCCC"/>
                </a:solidFill>
                <a:effectLst/>
                <a:latin typeface="Consolas" panose="020B0609020204030204" pitchFamily="49" charset="0"/>
              </a:rPr>
              <a:t> must cite text from the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control_description</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to justify the rating.  </a:t>
            </a:r>
          </a:p>
          <a:p>
            <a:pPr>
              <a:lnSpc>
                <a:spcPts val="1425"/>
              </a:lnSpc>
              <a:buNone/>
            </a:pPr>
            <a:r>
              <a:rPr lang="en-US" b="0" dirty="0">
                <a:solidFill>
                  <a:srgbClr val="CCCCCC"/>
                </a:solidFill>
                <a:effectLst/>
                <a:latin typeface="Consolas" panose="020B0609020204030204" pitchFamily="49" charset="0"/>
              </a:rPr>
              <a:t>   </a:t>
            </a: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**REVISION**</a:t>
            </a:r>
            <a:r>
              <a:rPr lang="en-US" b="0" dirty="0">
                <a:solidFill>
                  <a:srgbClr val="CCCCCC"/>
                </a:solidFill>
                <a:effectLst/>
                <a:latin typeface="Consolas" panose="020B0609020204030204" pitchFamily="49" charset="0"/>
              </a:rPr>
              <a:t> must provide a corrected control description fragment that satisfies that requirement; if the requirement </a:t>
            </a:r>
            <a:r>
              <a:rPr lang="en-US" b="1" dirty="0">
                <a:solidFill>
                  <a:srgbClr val="569CD6"/>
                </a:solidFill>
                <a:effectLst/>
                <a:latin typeface="Consolas" panose="020B0609020204030204" pitchFamily="49" charset="0"/>
              </a:rPr>
              <a:t>**MEETS**</a:t>
            </a:r>
            <a:r>
              <a:rPr lang="en-US" b="0" dirty="0">
                <a:solidFill>
                  <a:srgbClr val="CCCCCC"/>
                </a:solidFill>
                <a:effectLst/>
                <a:latin typeface="Consolas" panose="020B0609020204030204" pitchFamily="49" charset="0"/>
              </a:rPr>
              <a:t>, put </a:t>
            </a:r>
            <a:r>
              <a:rPr lang="en-US" b="0" dirty="0">
                <a:solidFill>
                  <a:srgbClr val="CE9178"/>
                </a:solidFill>
                <a:effectLst/>
                <a:latin typeface="Consolas" panose="020B0609020204030204" pitchFamily="49" charset="0"/>
              </a:rPr>
              <a:t>`N/A`</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Keep QC </a:t>
            </a:r>
            <a:r>
              <a:rPr lang="en-US" b="0" dirty="0" err="1">
                <a:solidFill>
                  <a:srgbClr val="CCCCCC"/>
                </a:solidFill>
                <a:effectLst/>
                <a:latin typeface="Consolas" panose="020B0609020204030204" pitchFamily="49" charset="0"/>
              </a:rPr>
              <a:t>Critera</a:t>
            </a:r>
            <a:r>
              <a:rPr lang="en-US" b="0" dirty="0">
                <a:solidFill>
                  <a:srgbClr val="CCCCCC"/>
                </a:solidFill>
                <a:effectLst/>
                <a:latin typeface="Consolas" panose="020B0609020204030204" pitchFamily="49" charset="0"/>
              </a:rPr>
              <a:t> and PASS/FAIL columns minimal width.</a:t>
            </a: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425"/>
              </a:lnSpc>
              <a:buNone/>
            </a:pPr>
            <a:r>
              <a:rPr lang="en-US" b="0" dirty="0">
                <a:solidFill>
                  <a:srgbClr val="6796E6"/>
                </a:solidFill>
                <a:effectLst/>
                <a:latin typeface="Consolas" panose="020B0609020204030204" pitchFamily="49" charset="0"/>
              </a:rPr>
              <a:t>2.</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**Internal QC Data Quality Report**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Create a Markdown table with columns:  </a:t>
            </a:r>
          </a:p>
          <a:p>
            <a:pPr>
              <a:lnSpc>
                <a:spcPts val="1425"/>
              </a:lnSpc>
              <a:buNone/>
            </a:pP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QC </a:t>
            </a:r>
            <a:r>
              <a:rPr lang="en-US" b="0" dirty="0" err="1">
                <a:solidFill>
                  <a:srgbClr val="CE9178"/>
                </a:solidFill>
                <a:effectLst/>
                <a:latin typeface="Consolas" panose="020B0609020204030204" pitchFamily="49" charset="0"/>
              </a:rPr>
              <a:t>Critera</a:t>
            </a:r>
            <a:r>
              <a:rPr lang="en-US" b="0" dirty="0">
                <a:solidFill>
                  <a:srgbClr val="CE9178"/>
                </a:solidFill>
                <a:effectLst/>
                <a:latin typeface="Consolas" panose="020B0609020204030204" pitchFamily="49" charset="0"/>
              </a:rPr>
              <a:t> | PASS/FAIL | Rationale | Revision |`</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Include one row for each Internal QC element: Who, What, When, How, Why, Evidence.  </a:t>
            </a:r>
          </a:p>
          <a:p>
            <a:pPr>
              <a:lnSpc>
                <a:spcPts val="1425"/>
              </a:lnSpc>
              <a:buNone/>
            </a:pPr>
            <a:r>
              <a:rPr lang="en-US" b="0" dirty="0">
                <a:solidFill>
                  <a:srgbClr val="CCCCCC"/>
                </a:solidFill>
                <a:effectLst/>
                <a:latin typeface="Consolas" panose="020B0609020204030204" pitchFamily="49" charset="0"/>
              </a:rPr>
              <a:t>   </a:t>
            </a: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Follow the same PASS/FAIL values and guidance as above.</a:t>
            </a: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425"/>
              </a:lnSpc>
              <a:buNone/>
            </a:pPr>
            <a:r>
              <a:rPr lang="en-US" b="0" dirty="0">
                <a:solidFill>
                  <a:srgbClr val="6796E6"/>
                </a:solidFill>
                <a:effectLst/>
                <a:latin typeface="Consolas" panose="020B0609020204030204" pitchFamily="49" charset="0"/>
              </a:rPr>
              <a:t>3.</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**Overall Assessment Table**</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Create a Markdown table with columns:  </a:t>
            </a:r>
          </a:p>
          <a:p>
            <a:pPr>
              <a:lnSpc>
                <a:spcPts val="1425"/>
              </a:lnSpc>
              <a:buNone/>
            </a:pP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 QC Type | PASS/FAIL | Rationale |`</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Include exactly three rows: </a:t>
            </a:r>
            <a:r>
              <a:rPr lang="en-US" b="0" dirty="0">
                <a:solidFill>
                  <a:srgbClr val="CE9178"/>
                </a:solidFill>
                <a:effectLst/>
                <a:latin typeface="Consolas" panose="020B0609020204030204" pitchFamily="49" charset="0"/>
              </a:rPr>
              <a:t>`FRASA Control Requirements`</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`Internal QC Standards`</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`Overall Assessment`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Provide a concise rationale for each row that synthesizes the detailed findings.</a:t>
            </a: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425"/>
              </a:lnSpc>
              <a:buNone/>
            </a:pPr>
            <a:r>
              <a:rPr lang="en-US" b="0" dirty="0">
                <a:solidFill>
                  <a:srgbClr val="6796E6"/>
                </a:solidFill>
                <a:effectLst/>
                <a:latin typeface="Consolas" panose="020B0609020204030204" pitchFamily="49" charset="0"/>
              </a:rPr>
              <a:t>4.</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**Fully Revised Control Description**</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Produce a single revised control description that </a:t>
            </a:r>
            <a:r>
              <a:rPr lang="en-US" b="1" dirty="0">
                <a:solidFill>
                  <a:srgbClr val="569CD6"/>
                </a:solidFill>
                <a:effectLst/>
                <a:latin typeface="Consolas" panose="020B0609020204030204" pitchFamily="49" charset="0"/>
              </a:rPr>
              <a:t>**meets all FRASA and Internal QC requirements**</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a:t>
            </a: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Do not invent facts; use </a:t>
            </a:r>
            <a:r>
              <a:rPr lang="en-US" b="0" dirty="0">
                <a:solidFill>
                  <a:srgbClr val="CE9178"/>
                </a:solidFill>
                <a:effectLst/>
                <a:latin typeface="Consolas" panose="020B0609020204030204" pitchFamily="49" charset="0"/>
              </a:rPr>
              <a:t>`[PLACEHOLDER]`</a:t>
            </a:r>
            <a:r>
              <a:rPr lang="en-US" b="0" dirty="0">
                <a:solidFill>
                  <a:srgbClr val="CCCCCC"/>
                </a:solidFill>
                <a:effectLst/>
                <a:latin typeface="Consolas" panose="020B0609020204030204" pitchFamily="49" charset="0"/>
              </a:rPr>
              <a:t> for any missing detail required to make the control complete.  </a:t>
            </a:r>
          </a:p>
          <a:p>
            <a:pPr>
              <a:lnSpc>
                <a:spcPts val="1425"/>
              </a:lnSpc>
              <a:buNone/>
            </a:pPr>
            <a:r>
              <a:rPr lang="en-US" b="0" dirty="0">
                <a:solidFill>
                  <a:srgbClr val="CCCCCC"/>
                </a:solidFill>
                <a:effectLst/>
                <a:latin typeface="Consolas" panose="020B0609020204030204" pitchFamily="49" charset="0"/>
              </a:rPr>
              <a:t>   </a:t>
            </a: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The revised description must be </a:t>
            </a:r>
            <a:r>
              <a:rPr lang="en-US" b="1" dirty="0">
                <a:solidFill>
                  <a:srgbClr val="569CD6"/>
                </a:solidFill>
                <a:effectLst/>
                <a:latin typeface="Consolas" panose="020B0609020204030204" pitchFamily="49" charset="0"/>
              </a:rPr>
              <a:t>**no more than 5 sentences**</a:t>
            </a:r>
            <a:r>
              <a:rPr lang="en-US" b="0" dirty="0">
                <a:solidFill>
                  <a:srgbClr val="CCCCCC"/>
                </a:solidFill>
                <a:effectLst/>
                <a:latin typeface="Consolas" panose="020B0609020204030204" pitchFamily="49" charset="0"/>
              </a:rPr>
              <a:t>.</a:t>
            </a: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425"/>
              </a:lnSpc>
              <a:buNone/>
            </a:pPr>
            <a:r>
              <a:rPr lang="en-US" b="1" dirty="0">
                <a:solidFill>
                  <a:srgbClr val="569CD6"/>
                </a:solidFill>
                <a:effectLst/>
                <a:latin typeface="Consolas" panose="020B0609020204030204" pitchFamily="49" charset="0"/>
              </a:rPr>
              <a:t>**Formatting and content constraints (strict):**</a:t>
            </a:r>
            <a:endParaRPr lang="en-US" b="0" dirty="0">
              <a:solidFill>
                <a:srgbClr val="CCCCCC"/>
              </a:solidFill>
              <a:effectLst/>
              <a:latin typeface="Consolas" panose="020B0609020204030204" pitchFamily="49" charset="0"/>
            </a:endParaRP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Return </a:t>
            </a:r>
            <a:r>
              <a:rPr lang="en-US" b="1" dirty="0">
                <a:solidFill>
                  <a:srgbClr val="569CD6"/>
                </a:solidFill>
                <a:effectLst/>
                <a:latin typeface="Consolas" panose="020B0609020204030204" pitchFamily="49" charset="0"/>
              </a:rPr>
              <a:t>**only**</a:t>
            </a:r>
            <a:r>
              <a:rPr lang="en-US" b="0" dirty="0">
                <a:solidFill>
                  <a:srgbClr val="CCCCCC"/>
                </a:solidFill>
                <a:effectLst/>
                <a:latin typeface="Consolas" panose="020B0609020204030204" pitchFamily="49" charset="0"/>
              </a:rPr>
              <a:t> items 1–4 above, in that order, and nothing else (no intro, no closing, no commentary).</a:t>
            </a: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Tables must be cleanly formatted Markdown tables.</a:t>
            </a: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If a requirement is satisfied, put </a:t>
            </a:r>
            <a:r>
              <a:rPr lang="en-US" b="0" dirty="0">
                <a:solidFill>
                  <a:srgbClr val="CE9178"/>
                </a:solidFill>
                <a:effectLst/>
                <a:latin typeface="Consolas" panose="020B0609020204030204" pitchFamily="49" charset="0"/>
              </a:rPr>
              <a:t>`N/A`</a:t>
            </a:r>
            <a:r>
              <a:rPr lang="en-US" b="0" dirty="0">
                <a:solidFill>
                  <a:srgbClr val="CCCCCC"/>
                </a:solidFill>
                <a:effectLst/>
                <a:latin typeface="Consolas" panose="020B0609020204030204" pitchFamily="49" charset="0"/>
              </a:rPr>
              <a:t> in REVISION for that row.</a:t>
            </a: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If any FRASA or QC Criteria cannot be evaluated from the input, mark it </a:t>
            </a:r>
            <a:r>
              <a:rPr lang="en-US" b="0" dirty="0">
                <a:solidFill>
                  <a:srgbClr val="CE9178"/>
                </a:solidFill>
                <a:effectLst/>
                <a:latin typeface="Consolas" panose="020B0609020204030204" pitchFamily="49" charset="0"/>
              </a:rPr>
              <a:t>`DOES NOT MEET`</a:t>
            </a:r>
            <a:r>
              <a:rPr lang="en-US" b="0" dirty="0">
                <a:solidFill>
                  <a:srgbClr val="CCCCCC"/>
                </a:solidFill>
                <a:effectLst/>
                <a:latin typeface="Consolas" panose="020B0609020204030204" pitchFamily="49" charset="0"/>
              </a:rPr>
              <a:t>.</a:t>
            </a: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Revised control description must not exceed 5 sentences.</a:t>
            </a: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Do not ask clarifying questions; proceed with evaluation using the provided input.</a:t>
            </a: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The </a:t>
            </a:r>
            <a:r>
              <a:rPr lang="en-US" b="1" dirty="0">
                <a:solidFill>
                  <a:srgbClr val="569CD6"/>
                </a:solidFill>
                <a:effectLst/>
                <a:latin typeface="Consolas" panose="020B0609020204030204" pitchFamily="49" charset="0"/>
              </a:rPr>
              <a:t>**FRASA Quality Control Report**</a:t>
            </a:r>
            <a:r>
              <a:rPr lang="en-US" b="0" dirty="0">
                <a:solidFill>
                  <a:srgbClr val="CCCCCC"/>
                </a:solidFill>
                <a:effectLst/>
                <a:latin typeface="Consolas" panose="020B0609020204030204" pitchFamily="49" charset="0"/>
              </a:rPr>
              <a:t> markdown table should follow to this format</a:t>
            </a:r>
          </a:p>
          <a:p>
            <a:pPr>
              <a:lnSpc>
                <a:spcPts val="1425"/>
              </a:lnSpc>
              <a:buNone/>
            </a:pPr>
            <a:r>
              <a:rPr lang="en-US" b="0" dirty="0">
                <a:solidFill>
                  <a:srgbClr val="CCCCCC"/>
                </a:solidFill>
                <a:effectLst/>
                <a:latin typeface="Consolas" panose="020B0609020204030204" pitchFamily="49" charset="0"/>
              </a:rPr>
              <a:t>    | QC Criteria | PASS/FAIL | Rationale | Revision |</a:t>
            </a: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 Frequency | </a:t>
            </a:r>
            <a:r>
              <a:rPr lang="en-US" b="0" dirty="0">
                <a:solidFill>
                  <a:srgbClr val="CE9178"/>
                </a:solidFill>
                <a:effectLst/>
                <a:latin typeface="Consolas" panose="020B0609020204030204" pitchFamily="49" charset="0"/>
              </a:rPr>
              <a:t>`&lt;PASS/FAIL&gt;`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`&lt;RATIONALE&gt;`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`&lt;REVISION&gt;`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 Responsible Party | </a:t>
            </a:r>
            <a:r>
              <a:rPr lang="en-US" b="0" dirty="0">
                <a:solidFill>
                  <a:srgbClr val="CE9178"/>
                </a:solidFill>
                <a:effectLst/>
                <a:latin typeface="Consolas" panose="020B0609020204030204" pitchFamily="49" charset="0"/>
              </a:rPr>
              <a:t>`&lt;PASS/FAIL&gt;`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`&lt;RATIONALE&gt;`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`&lt;REVISION&gt;`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 Activity | </a:t>
            </a:r>
            <a:r>
              <a:rPr lang="en-US" b="0" dirty="0">
                <a:solidFill>
                  <a:srgbClr val="CE9178"/>
                </a:solidFill>
                <a:effectLst/>
                <a:latin typeface="Consolas" panose="020B0609020204030204" pitchFamily="49" charset="0"/>
              </a:rPr>
              <a:t>`&lt;PASS/FAIL&gt;`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`&lt;RATIONALE&gt;`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`&lt;REVISION&gt;`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 Source | </a:t>
            </a:r>
            <a:r>
              <a:rPr lang="en-US" b="0" dirty="0">
                <a:solidFill>
                  <a:srgbClr val="CE9178"/>
                </a:solidFill>
                <a:effectLst/>
                <a:latin typeface="Consolas" panose="020B0609020204030204" pitchFamily="49" charset="0"/>
              </a:rPr>
              <a:t>`&lt;PASS/FAIL&gt;`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`&lt;RATIONALE&gt;`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`&lt;REVISION&gt;`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 Action Taken | </a:t>
            </a:r>
            <a:r>
              <a:rPr lang="en-US" b="0" dirty="0">
                <a:solidFill>
                  <a:srgbClr val="CE9178"/>
                </a:solidFill>
                <a:effectLst/>
                <a:latin typeface="Consolas" panose="020B0609020204030204" pitchFamily="49" charset="0"/>
              </a:rPr>
              <a:t>`&lt;PASS/FAIL&gt;`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`&lt;RATIONALE&gt;`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`&lt;REVISION&gt;`</a:t>
            </a:r>
            <a:r>
              <a:rPr lang="en-US" b="0" dirty="0">
                <a:solidFill>
                  <a:srgbClr val="CCCCCC"/>
                </a:solidFill>
                <a:effectLst/>
                <a:latin typeface="Consolas" panose="020B0609020204030204" pitchFamily="49" charset="0"/>
              </a:rPr>
              <a:t> |</a:t>
            </a: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The  </a:t>
            </a:r>
            <a:r>
              <a:rPr lang="en-US" b="1" dirty="0">
                <a:solidFill>
                  <a:srgbClr val="569CD6"/>
                </a:solidFill>
                <a:effectLst/>
                <a:latin typeface="Consolas" panose="020B0609020204030204" pitchFamily="49" charset="0"/>
              </a:rPr>
              <a:t>**Internal QC Data Quality Report**</a:t>
            </a:r>
            <a:r>
              <a:rPr lang="en-US" b="0" dirty="0">
                <a:solidFill>
                  <a:srgbClr val="CCCCCC"/>
                </a:solidFill>
                <a:effectLst/>
                <a:latin typeface="Consolas" panose="020B0609020204030204" pitchFamily="49" charset="0"/>
              </a:rPr>
              <a:t>  markdown table should follow to this format</a:t>
            </a:r>
          </a:p>
          <a:p>
            <a:pPr>
              <a:lnSpc>
                <a:spcPts val="1425"/>
              </a:lnSpc>
              <a:buNone/>
            </a:pPr>
            <a:r>
              <a:rPr lang="en-US" b="0" dirty="0">
                <a:solidFill>
                  <a:srgbClr val="CCCCCC"/>
                </a:solidFill>
                <a:effectLst/>
                <a:latin typeface="Consolas" panose="020B0609020204030204" pitchFamily="49" charset="0"/>
              </a:rPr>
              <a:t>    Structure of expected markdown table</a:t>
            </a:r>
          </a:p>
          <a:p>
            <a:pPr>
              <a:lnSpc>
                <a:spcPts val="1425"/>
              </a:lnSpc>
              <a:buNone/>
            </a:pPr>
            <a:r>
              <a:rPr lang="en-US" b="0" dirty="0">
                <a:solidFill>
                  <a:srgbClr val="CCCCCC"/>
                </a:solidFill>
                <a:effectLst/>
                <a:latin typeface="Consolas" panose="020B0609020204030204" pitchFamily="49" charset="0"/>
              </a:rPr>
              <a:t>    | QC Criteria | PASS/FAIL | Rationale | Revision |</a:t>
            </a: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 Who | </a:t>
            </a:r>
            <a:r>
              <a:rPr lang="en-US" b="0" dirty="0">
                <a:solidFill>
                  <a:srgbClr val="CE9178"/>
                </a:solidFill>
                <a:effectLst/>
                <a:latin typeface="Consolas" panose="020B0609020204030204" pitchFamily="49" charset="0"/>
              </a:rPr>
              <a:t>`&lt;PASS/FAIL&gt;`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`&lt;RATIONALE&gt;`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`&lt;REVISION&gt;`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 What | </a:t>
            </a:r>
            <a:r>
              <a:rPr lang="en-US" b="0" dirty="0">
                <a:solidFill>
                  <a:srgbClr val="CE9178"/>
                </a:solidFill>
                <a:effectLst/>
                <a:latin typeface="Consolas" panose="020B0609020204030204" pitchFamily="49" charset="0"/>
              </a:rPr>
              <a:t>`&lt;PASS/FAIL&gt;`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`&lt;RATIONALE&gt;`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`&lt;REVISION&gt;`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 When | </a:t>
            </a:r>
            <a:r>
              <a:rPr lang="en-US" b="0" dirty="0">
                <a:solidFill>
                  <a:srgbClr val="CE9178"/>
                </a:solidFill>
                <a:effectLst/>
                <a:latin typeface="Consolas" panose="020B0609020204030204" pitchFamily="49" charset="0"/>
              </a:rPr>
              <a:t>`&lt;PASS/FAIL&gt;`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`&lt;RATIONALE&gt;`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`&lt;REVISION&gt;`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 How | </a:t>
            </a:r>
            <a:r>
              <a:rPr lang="en-US" b="0" dirty="0">
                <a:solidFill>
                  <a:srgbClr val="CE9178"/>
                </a:solidFill>
                <a:effectLst/>
                <a:latin typeface="Consolas" panose="020B0609020204030204" pitchFamily="49" charset="0"/>
              </a:rPr>
              <a:t>`&lt;PASS/FAIL&gt;`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`&lt;RATIONALE&gt;`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`&lt;REVISION&gt;`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 Why | </a:t>
            </a:r>
            <a:r>
              <a:rPr lang="en-US" b="0" dirty="0">
                <a:solidFill>
                  <a:srgbClr val="CE9178"/>
                </a:solidFill>
                <a:effectLst/>
                <a:latin typeface="Consolas" panose="020B0609020204030204" pitchFamily="49" charset="0"/>
              </a:rPr>
              <a:t>`&lt;PASS/FAIL&gt;`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`&lt;RATIONALE&gt;`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`&lt;REVISION&gt;`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 Evidence | </a:t>
            </a:r>
            <a:r>
              <a:rPr lang="en-US" b="0" dirty="0">
                <a:solidFill>
                  <a:srgbClr val="CE9178"/>
                </a:solidFill>
                <a:effectLst/>
                <a:latin typeface="Consolas" panose="020B0609020204030204" pitchFamily="49" charset="0"/>
              </a:rPr>
              <a:t>`&lt;PASS/FAIL&gt;`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`&lt;RATIONALE&gt;`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`&lt;REVISION&gt;`</a:t>
            </a:r>
            <a:r>
              <a:rPr lang="en-US" b="0" dirty="0">
                <a:solidFill>
                  <a:srgbClr val="CCCCCC"/>
                </a:solidFill>
                <a:effectLst/>
                <a:latin typeface="Consolas" panose="020B0609020204030204" pitchFamily="49" charset="0"/>
              </a:rPr>
              <a:t> |</a:t>
            </a: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a:p>
            <a:pPr>
              <a:lnSpc>
                <a:spcPts val="1425"/>
              </a:lnSpc>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The </a:t>
            </a:r>
            <a:r>
              <a:rPr lang="en-US" b="1" dirty="0">
                <a:solidFill>
                  <a:srgbClr val="569CD6"/>
                </a:solidFill>
                <a:effectLst/>
                <a:latin typeface="Consolas" panose="020B0609020204030204" pitchFamily="49" charset="0"/>
              </a:rPr>
              <a:t>**Overall Assessment Table**</a:t>
            </a:r>
            <a:r>
              <a:rPr lang="en-US" b="0" dirty="0">
                <a:solidFill>
                  <a:srgbClr val="CCCCCC"/>
                </a:solidFill>
                <a:effectLst/>
                <a:latin typeface="Consolas" panose="020B0609020204030204" pitchFamily="49" charset="0"/>
              </a:rPr>
              <a:t>  markdown table should follow to this format</a:t>
            </a:r>
          </a:p>
          <a:p>
            <a:pPr>
              <a:lnSpc>
                <a:spcPts val="1425"/>
              </a:lnSpc>
              <a:buNone/>
            </a:pPr>
            <a:r>
              <a:rPr lang="en-US" b="0" dirty="0">
                <a:solidFill>
                  <a:srgbClr val="CCCCCC"/>
                </a:solidFill>
                <a:effectLst/>
                <a:latin typeface="Consolas" panose="020B0609020204030204" pitchFamily="49" charset="0"/>
              </a:rPr>
              <a:t>    | QC Type | PASS/FAIL | Rationale |</a:t>
            </a:r>
          </a:p>
          <a:p>
            <a:pPr>
              <a:lnSpc>
                <a:spcPts val="1425"/>
              </a:lnSpc>
              <a:buNone/>
            </a:pP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 FRASA Control Requirements | </a:t>
            </a:r>
            <a:r>
              <a:rPr lang="en-US" b="0" dirty="0">
                <a:solidFill>
                  <a:srgbClr val="CE9178"/>
                </a:solidFill>
                <a:effectLst/>
                <a:latin typeface="Consolas" panose="020B0609020204030204" pitchFamily="49" charset="0"/>
              </a:rPr>
              <a:t>`&lt;PASS/FAIL&gt;`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`&lt;RATIONALE&gt;`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 Internal QC Standards | </a:t>
            </a:r>
            <a:r>
              <a:rPr lang="en-US" b="0" dirty="0">
                <a:solidFill>
                  <a:srgbClr val="CE9178"/>
                </a:solidFill>
                <a:effectLst/>
                <a:latin typeface="Consolas" panose="020B0609020204030204" pitchFamily="49" charset="0"/>
              </a:rPr>
              <a:t>`&lt;PASS/FAIL&gt;`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`&lt;RATIONALE&gt;`</a:t>
            </a:r>
            <a:r>
              <a:rPr lang="en-US" b="0" dirty="0">
                <a:solidFill>
                  <a:srgbClr val="CCCCCC"/>
                </a:solidFill>
                <a:effectLst/>
                <a:latin typeface="Consolas" panose="020B0609020204030204" pitchFamily="49" charset="0"/>
              </a:rPr>
              <a:t> |</a:t>
            </a:r>
          </a:p>
          <a:p>
            <a:pPr>
              <a:lnSpc>
                <a:spcPts val="1425"/>
              </a:lnSpc>
              <a:buNone/>
            </a:pPr>
            <a:r>
              <a:rPr lang="en-US" b="0" dirty="0">
                <a:solidFill>
                  <a:srgbClr val="CCCCCC"/>
                </a:solidFill>
                <a:effectLst/>
                <a:latin typeface="Consolas" panose="020B0609020204030204" pitchFamily="49" charset="0"/>
              </a:rPr>
              <a:t>    | Overall Assessment | </a:t>
            </a:r>
            <a:r>
              <a:rPr lang="en-US" b="0" dirty="0">
                <a:solidFill>
                  <a:srgbClr val="CE9178"/>
                </a:solidFill>
                <a:effectLst/>
                <a:latin typeface="Consolas" panose="020B0609020204030204" pitchFamily="49" charset="0"/>
              </a:rPr>
              <a:t>`&lt;PASS/FAIL&gt;`</a:t>
            </a:r>
            <a:r>
              <a:rPr lang="en-US" b="0" dirty="0">
                <a:solidFill>
                  <a:srgbClr val="CCCCCC"/>
                </a:solidFill>
                <a:effectLst/>
                <a:latin typeface="Consolas" panose="020B0609020204030204" pitchFamily="49" charset="0"/>
              </a:rPr>
              <a:t> | </a:t>
            </a:r>
            <a:r>
              <a:rPr lang="en-US" b="0" dirty="0">
                <a:solidFill>
                  <a:srgbClr val="CE9178"/>
                </a:solidFill>
                <a:effectLst/>
                <a:latin typeface="Consolas" panose="020B0609020204030204" pitchFamily="49" charset="0"/>
              </a:rPr>
              <a:t>`&lt;RATIONALE&gt;`</a:t>
            </a:r>
            <a:r>
              <a:rPr lang="en-US" b="0" dirty="0">
                <a:solidFill>
                  <a:srgbClr val="CCCCCC"/>
                </a:solidFill>
                <a:effectLst/>
                <a:latin typeface="Consolas" panose="020B0609020204030204" pitchFamily="49" charset="0"/>
              </a:rPr>
              <a:t> |</a:t>
            </a:r>
          </a:p>
          <a:p>
            <a:pPr>
              <a:lnSpc>
                <a:spcPts val="1425"/>
              </a:lnSpc>
              <a:buNone/>
            </a:pPr>
            <a:br>
              <a:rPr lang="en-US" b="0" dirty="0">
                <a:solidFill>
                  <a:srgbClr val="CCCCCC"/>
                </a:solidFill>
                <a:effectLst/>
                <a:latin typeface="Consolas" panose="020B0609020204030204" pitchFamily="49" charset="0"/>
              </a:rPr>
            </a:b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233297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TotalTime>
  <Words>2206</Words>
  <Application>Microsoft Office PowerPoint</Application>
  <PresentationFormat>Widescreen</PresentationFormat>
  <Paragraphs>176</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Aptos Narrow</vt:lpstr>
      <vt:lpstr>Arial</vt:lpstr>
      <vt:lpstr>Consolas</vt:lpstr>
      <vt:lpstr>Office Theme</vt:lpstr>
      <vt:lpstr>Control Description QC</vt:lpstr>
      <vt:lpstr>Example Inputs</vt:lpstr>
      <vt:lpstr>FRASA Quality Control Report</vt:lpstr>
      <vt:lpstr>Internal Quality Control Report</vt:lpstr>
      <vt:lpstr>Overall Assessment Table</vt:lpstr>
      <vt:lpstr>Prompt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zachary carideo</dc:creator>
  <cp:lastModifiedBy>zachary carideo</cp:lastModifiedBy>
  <cp:revision>1</cp:revision>
  <dcterms:created xsi:type="dcterms:W3CDTF">2026-03-20T13:32:30Z</dcterms:created>
  <dcterms:modified xsi:type="dcterms:W3CDTF">2026-03-20T16:12:17Z</dcterms:modified>
</cp:coreProperties>
</file>