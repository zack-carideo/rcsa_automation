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645920"/>
            <a:ext cx="10058400" cy="1097280"/>
          </a:xfrm>
          <a:prstGeom prst="rect">
            <a:avLst/>
          </a:prstGeom>
          <a:noFill/>
        </p:spPr>
        <p:txBody>
          <a:bodyPr wrap="square">
            <a:spAutoFit/>
          </a:bodyPr>
          <a:lstStyle/>
          <a:p>
            <a:pPr algn="ctr">
              <a:defRPr sz="3600" b="1">
                <a:solidFill>
                  <a:srgbClr val="FFFFFF"/>
                </a:solidFill>
              </a:defRPr>
            </a:pPr>
            <a:r>
              <a:t>RCSA Control Description — Quality Review</a:t>
            </a:r>
          </a:p>
        </p:txBody>
      </p:sp>
      <p:sp>
        <p:nvSpPr>
          <p:cNvPr id="3" name="TextBox 2"/>
          <p:cNvSpPr txBox="1"/>
          <p:nvPr/>
        </p:nvSpPr>
        <p:spPr>
          <a:xfrm>
            <a:off x="914400" y="2926080"/>
            <a:ext cx="10058400" cy="548640"/>
          </a:xfrm>
          <a:prstGeom prst="rect">
            <a:avLst/>
          </a:prstGeom>
          <a:noFill/>
        </p:spPr>
        <p:txBody>
          <a:bodyPr wrap="square">
            <a:spAutoFit/>
          </a:bodyPr>
          <a:lstStyle/>
          <a:p>
            <a:pPr algn="ctr">
              <a:defRPr sz="1800" b="0">
                <a:solidFill>
                  <a:srgbClr val="F5F5F5"/>
                </a:solidFill>
              </a:defRPr>
            </a:pPr>
            <a:r>
              <a:t>On an ongoing, continuous basis, the Access Management team in coordination with…</a:t>
            </a:r>
          </a:p>
        </p:txBody>
      </p:sp>
      <p:sp>
        <p:nvSpPr>
          <p:cNvPr id="4" name="Rectangle 3"/>
          <p:cNvSpPr/>
          <p:nvPr/>
        </p:nvSpPr>
        <p:spPr>
          <a:xfrm>
            <a:off x="3200400" y="3840480"/>
            <a:ext cx="1828800" cy="36576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QC Assessment</a:t>
            </a:r>
          </a:p>
        </p:txBody>
      </p:sp>
      <p:sp>
        <p:nvSpPr>
          <p:cNvPr id="5" name="Rectangle 4"/>
          <p:cNvSpPr/>
          <p:nvPr/>
        </p:nvSpPr>
        <p:spPr>
          <a:xfrm>
            <a:off x="5303520" y="3840480"/>
            <a:ext cx="1828800" cy="36576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Overall Rating</a:t>
            </a:r>
          </a:p>
        </p:txBody>
      </p:sp>
      <p:sp>
        <p:nvSpPr>
          <p:cNvPr id="6" name="Rectangle 5"/>
          <p:cNvSpPr/>
          <p:nvPr/>
        </p:nvSpPr>
        <p:spPr>
          <a:xfrm>
            <a:off x="7406640" y="3840480"/>
            <a:ext cx="1828800" cy="36576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Revised Description</a:t>
            </a:r>
          </a:p>
        </p:txBody>
      </p:sp>
      <p:sp>
        <p:nvSpPr>
          <p:cNvPr id="7" name="TextBox 6"/>
          <p:cNvSpPr txBox="1"/>
          <p:nvPr/>
        </p:nvSpPr>
        <p:spPr>
          <a:xfrm>
            <a:off x="914400" y="5943600"/>
            <a:ext cx="10058400" cy="365760"/>
          </a:xfrm>
          <a:prstGeom prst="rect">
            <a:avLst/>
          </a:prstGeom>
          <a:noFill/>
        </p:spPr>
        <p:txBody>
          <a:bodyPr wrap="square">
            <a:spAutoFit/>
          </a:bodyPr>
          <a:lstStyle/>
          <a:p>
            <a:pPr algn="ctr">
              <a:defRPr sz="900" b="0">
                <a:solidFill>
                  <a:srgbClr val="F5F5F5"/>
                </a:solidFill>
              </a:defRPr>
            </a:pPr>
            <a:r>
              <a:t>Internal Audit · Quality Control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lgn="l">
              <a:defRPr sz="2400" b="1">
                <a:solidFill>
                  <a:srgbClr val="1B2A4A"/>
                </a:solidFill>
              </a:defRPr>
            </a:pPr>
            <a:r>
              <a:t>Evaluation Context</a:t>
            </a:r>
          </a:p>
        </p:txBody>
      </p:sp>
      <p:sp>
        <p:nvSpPr>
          <p:cNvPr id="3" name="Rectangle 2"/>
          <p:cNvSpPr/>
          <p:nvPr/>
        </p:nvSpPr>
        <p:spPr>
          <a:xfrm>
            <a:off x="457200" y="1097280"/>
            <a:ext cx="5029200" cy="4114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4846320" cy="411480"/>
          </a:xfrm>
          <a:prstGeom prst="rect">
            <a:avLst/>
          </a:prstGeom>
          <a:noFill/>
        </p:spPr>
        <p:txBody>
          <a:bodyPr wrap="square">
            <a:spAutoFit/>
          </a:bodyPr>
          <a:lstStyle/>
          <a:p>
            <a:pPr algn="l">
              <a:defRPr sz="1400" b="1">
                <a:solidFill>
                  <a:srgbClr val="FFFFFF"/>
                </a:solidFill>
              </a:defRPr>
            </a:pPr>
            <a:r>
              <a:t>QC Framework</a:t>
            </a:r>
          </a:p>
        </p:txBody>
      </p:sp>
      <p:sp>
        <p:nvSpPr>
          <p:cNvPr id="5" name="TextBox 4"/>
          <p:cNvSpPr txBox="1"/>
          <p:nvPr/>
        </p:nvSpPr>
        <p:spPr>
          <a:xfrm>
            <a:off x="640080" y="1737360"/>
            <a:ext cx="4572000" cy="3657600"/>
          </a:xfrm>
          <a:prstGeom prst="rect">
            <a:avLst/>
          </a:prstGeom>
          <a:noFill/>
        </p:spPr>
        <p:txBody>
          <a:bodyPr wrap="square">
            <a:spAutoFit/>
          </a:bodyPr>
          <a:lstStyle/>
          <a:p>
            <a:pPr algn="l">
              <a:defRPr sz="1100" b="0">
                <a:solidFill>
                  <a:srgbClr val="1B2A4A"/>
                </a:solidFill>
              </a:defRPr>
            </a:pPr>
            <a:r>
              <a:t>QC Criteria:  Who · What · When · How · Why · Evidence</a:t>
            </a:r>
          </a:p>
        </p:txBody>
      </p:sp>
      <p:sp>
        <p:nvSpPr>
          <p:cNvPr id="6" name="Rectangle 5"/>
          <p:cNvSpPr/>
          <p:nvPr/>
        </p:nvSpPr>
        <p:spPr>
          <a:xfrm>
            <a:off x="5943600" y="1097280"/>
            <a:ext cx="54864" cy="5029200"/>
          </a:xfrm>
          <a:prstGeom prst="rect">
            <a:avLst/>
          </a:prstGeom>
          <a:solidFill>
            <a:srgbClr val="00A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0" y="1097280"/>
            <a:ext cx="5943600" cy="274320"/>
          </a:xfrm>
          <a:prstGeom prst="rect">
            <a:avLst/>
          </a:prstGeom>
          <a:noFill/>
        </p:spPr>
        <p:txBody>
          <a:bodyPr wrap="square">
            <a:spAutoFit/>
          </a:bodyPr>
          <a:lstStyle/>
          <a:p>
            <a:pPr algn="l">
              <a:defRPr sz="900" b="1">
                <a:solidFill>
                  <a:srgbClr val="616161"/>
                </a:solidFill>
              </a:defRPr>
            </a:pPr>
            <a:r>
              <a:t>ORIGINAL CONTROL DESCRIPTION</a:t>
            </a:r>
          </a:p>
        </p:txBody>
      </p:sp>
      <p:sp>
        <p:nvSpPr>
          <p:cNvPr id="8" name="TextBox 7"/>
          <p:cNvSpPr txBox="1"/>
          <p:nvPr/>
        </p:nvSpPr>
        <p:spPr>
          <a:xfrm>
            <a:off x="6217920" y="1554480"/>
            <a:ext cx="5486400" cy="4572000"/>
          </a:xfrm>
          <a:prstGeom prst="rect">
            <a:avLst/>
          </a:prstGeom>
          <a:noFill/>
        </p:spPr>
        <p:txBody>
          <a:bodyPr wrap="square">
            <a:spAutoFit/>
          </a:bodyPr>
          <a:lstStyle/>
          <a:p>
            <a:pPr algn="l">
              <a:defRPr sz="1100" b="0">
                <a:solidFill>
                  <a:srgbClr val="1B2A4A"/>
                </a:solidFill>
              </a:defRPr>
            </a:pPr>
            <a:r>
              <a:t>On an ongoing, continuous basis, the Access Management team in coordination with the first-line Business Risk Officer enforces role-based access controls (RBAC) to ensure that the initiation, authorization, recording, and reconciliation of financial transactions are assigned to separate and distinct individuals, with periodic access reviews conducted no less than quarterly to validate continued role segregation, using the institution's Identity and Access Management (IAM) platform and core banking transaction processing system access control modules to ensure no single employee retains end-to-end control over a transaction lifecycle in a manner that could enable the execution or concealment of unauthorized transactions or financial misstatement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457200"/>
          </a:xfrm>
          <a:prstGeom prst="rect">
            <a:avLst/>
          </a:prstGeom>
          <a:noFill/>
        </p:spPr>
        <p:txBody>
          <a:bodyPr wrap="square">
            <a:spAutoFit/>
          </a:bodyPr>
          <a:lstStyle/>
          <a:p>
            <a:pPr algn="l">
              <a:defRPr sz="2400" b="1">
                <a:solidFill>
                  <a:srgbClr val="1B2A4A"/>
                </a:solidFill>
              </a:defRPr>
            </a:pPr>
            <a:r>
              <a:t>Control Description Quality Control Report</a:t>
            </a:r>
          </a:p>
        </p:txBody>
      </p:sp>
      <p:sp>
        <p:nvSpPr>
          <p:cNvPr id="3" name="TextBox 2"/>
          <p:cNvSpPr txBox="1"/>
          <p:nvPr/>
        </p:nvSpPr>
        <p:spPr>
          <a:xfrm>
            <a:off x="457200" y="777240"/>
            <a:ext cx="5486400" cy="320040"/>
          </a:xfrm>
          <a:prstGeom prst="rect">
            <a:avLst/>
          </a:prstGeom>
          <a:noFill/>
        </p:spPr>
        <p:txBody>
          <a:bodyPr wrap="square">
            <a:spAutoFit/>
          </a:bodyPr>
          <a:lstStyle/>
          <a:p>
            <a:pPr algn="l">
              <a:defRPr sz="1200" b="0">
                <a:solidFill>
                  <a:srgbClr val="616161"/>
                </a:solidFill>
              </a:defRPr>
            </a:pPr>
            <a:r>
              <a:t>2 of 6 criteria met</a:t>
            </a:r>
          </a:p>
        </p:txBody>
      </p:sp>
      <p:graphicFrame>
        <p:nvGraphicFramePr>
          <p:cNvPr id="4" name="Table 3"/>
          <p:cNvGraphicFramePr>
            <a:graphicFrameLocks noGrp="1"/>
          </p:cNvGraphicFramePr>
          <p:nvPr/>
        </p:nvGraphicFramePr>
        <p:xfrm>
          <a:off x="457200" y="1280160"/>
          <a:ext cx="11247120" cy="5029200"/>
        </p:xfrm>
        <a:graphic>
          <a:graphicData uri="http://schemas.openxmlformats.org/drawingml/2006/table">
            <a:tbl>
              <a:tblPr firstRow="1" bandRow="1">
                <a:tableStyleId>{5C22544A-7EE6-4342-B048-85BDC9FD1C3A}</a:tableStyleId>
              </a:tblPr>
              <a:tblGrid>
                <a:gridCol w="1554480"/>
                <a:gridCol w="1554480"/>
                <a:gridCol w="4754880"/>
                <a:gridCol w="3383280"/>
              </a:tblGrid>
              <a:tr h="718457">
                <a:tc>
                  <a:txBody>
                    <a:bodyPr wrap="square"/>
                    <a:lstStyle/>
                    <a:p>
                      <a:pPr>
                        <a:defRPr sz="1000" b="1">
                          <a:solidFill>
                            <a:srgbClr val="FFFFFF"/>
                          </a:solidFill>
                        </a:defRPr>
                      </a:pPr>
                      <a:r>
                        <a:t>QC Criteria</a:t>
                      </a:r>
                    </a:p>
                  </a:txBody>
                  <a:tcPr>
                    <a:solidFill>
                      <a:srgbClr val="1B2A4A"/>
                    </a:solidFill>
                  </a:tcPr>
                </a:tc>
                <a:tc>
                  <a:txBody>
                    <a:bodyPr wrap="square"/>
                    <a:lstStyle/>
                    <a:p>
                      <a:pPr>
                        <a:defRPr sz="1000" b="1">
                          <a:solidFill>
                            <a:srgbClr val="FFFFFF"/>
                          </a:solidFill>
                        </a:defRPr>
                      </a:pPr>
                      <a:r>
                        <a:t>PASS/FAIL</a:t>
                      </a:r>
                    </a:p>
                  </a:txBody>
                  <a:tcPr>
                    <a:solidFill>
                      <a:srgbClr val="1B2A4A"/>
                    </a:solidFill>
                  </a:tcPr>
                </a:tc>
                <a:tc>
                  <a:txBody>
                    <a:bodyPr wrap="square"/>
                    <a:lstStyle/>
                    <a:p>
                      <a:pPr>
                        <a:defRPr sz="1000" b="1">
                          <a:solidFill>
                            <a:srgbClr val="FFFFFF"/>
                          </a:solidFill>
                        </a:defRPr>
                      </a:pPr>
                      <a:r>
                        <a:t>Rationale</a:t>
                      </a:r>
                    </a:p>
                  </a:txBody>
                  <a:tcPr>
                    <a:solidFill>
                      <a:srgbClr val="1B2A4A"/>
                    </a:solidFill>
                  </a:tcPr>
                </a:tc>
                <a:tc>
                  <a:txBody>
                    <a:bodyPr wrap="square"/>
                    <a:lstStyle/>
                    <a:p>
                      <a:pPr>
                        <a:defRPr sz="1000" b="1">
                          <a:solidFill>
                            <a:srgbClr val="FFFFFF"/>
                          </a:solidFill>
                        </a:defRPr>
                      </a:pPr>
                      <a:r>
                        <a:t>Revision</a:t>
                      </a:r>
                    </a:p>
                  </a:txBody>
                  <a:tcPr>
                    <a:solidFill>
                      <a:srgbClr val="1B2A4A"/>
                    </a:solidFill>
                  </a:tcPr>
                </a:tc>
              </a:tr>
              <a:tr h="718457">
                <a:tc>
                  <a:txBody>
                    <a:bodyPr wrap="square"/>
                    <a:lstStyle/>
                    <a:p>
                      <a:pPr>
                        <a:defRPr sz="900" b="0">
                          <a:solidFill>
                            <a:srgbClr val="1B2A4A"/>
                          </a:solidFill>
                        </a:defRPr>
                      </a:pPr>
                      <a:r>
                        <a:t>Who</a:t>
                      </a:r>
                    </a:p>
                  </a:txBody>
                  <a:tcPr>
                    <a:solidFill>
                      <a:srgbClr val="FFFFFF"/>
                    </a:solidFill>
                  </a:tcPr>
                </a:tc>
                <a:tc>
                  <a:txBody>
                    <a:bodyPr wrap="square"/>
                    <a:lstStyle/>
                    <a:p>
                      <a:pPr>
                        <a:defRPr sz="900" b="1">
                          <a:solidFill>
                            <a:srgbClr val="2E7D32"/>
                          </a:solidFill>
                        </a:defRPr>
                      </a:pPr>
                      <a:r>
                        <a:t>MEETS</a:t>
                      </a:r>
                    </a:p>
                  </a:txBody>
                  <a:tcPr>
                    <a:solidFill>
                      <a:srgbClr val="E8F5E9"/>
                    </a:solidFill>
                  </a:tcPr>
                </a:tc>
                <a:tc>
                  <a:txBody>
                    <a:bodyPr wrap="square"/>
                    <a:lstStyle/>
                    <a:p>
                      <a:pPr>
                        <a:defRPr sz="900" b="0">
                          <a:solidFill>
                            <a:srgbClr val="1B2A4A"/>
                          </a:solidFill>
                        </a:defRPr>
                      </a:pPr>
                      <a:r>
                        <a:t>"Access Management team in coordination with the first-line Business Risk Officer" clearly identifies responsible parties</a:t>
                      </a:r>
                    </a:p>
                  </a:txBody>
                  <a:tcPr>
                    <a:solidFill>
                      <a:srgbClr val="FFFFFF"/>
                    </a:solidFill>
                  </a:tcPr>
                </a:tc>
                <a:tc>
                  <a:txBody>
                    <a:bodyPr wrap="square"/>
                    <a:lstStyle/>
                    <a:p>
                      <a:pPr>
                        <a:defRPr sz="900" b="0">
                          <a:solidFill>
                            <a:srgbClr val="1B2A4A"/>
                          </a:solidFill>
                        </a:defRPr>
                      </a:pPr>
                      <a:r>
                        <a:t>N/A</a:t>
                      </a:r>
                    </a:p>
                  </a:txBody>
                  <a:tcPr>
                    <a:solidFill>
                      <a:srgbClr val="FFFFFF"/>
                    </a:solidFill>
                  </a:tcPr>
                </a:tc>
              </a:tr>
              <a:tr h="718457">
                <a:tc>
                  <a:txBody>
                    <a:bodyPr wrap="square"/>
                    <a:lstStyle/>
                    <a:p>
                      <a:pPr>
                        <a:defRPr sz="900" b="0">
                          <a:solidFill>
                            <a:srgbClr val="1B2A4A"/>
                          </a:solidFill>
                        </a:defRPr>
                      </a:pPr>
                      <a:r>
                        <a:t>What</a:t>
                      </a:r>
                    </a:p>
                  </a:txBody>
                  <a:tcPr>
                    <a:solidFill>
                      <a:srgbClr val="FAFAFA"/>
                    </a:solidFill>
                  </a:tcPr>
                </a:tc>
                <a:tc>
                  <a:txBody>
                    <a:bodyPr wrap="square"/>
                    <a:lstStyle/>
                    <a:p>
                      <a:pPr>
                        <a:defRPr sz="900" b="1">
                          <a:solidFill>
                            <a:srgbClr val="E65100"/>
                          </a:solidFill>
                        </a:defRPr>
                      </a:pPr>
                      <a:r>
                        <a:t>PARTIALLY MEETS</a:t>
                      </a:r>
                    </a:p>
                  </a:txBody>
                  <a:tcPr>
                    <a:solidFill>
                      <a:srgbClr val="FFF3E0"/>
                    </a:solidFill>
                  </a:tcPr>
                </a:tc>
                <a:tc>
                  <a:txBody>
                    <a:bodyPr wrap="square"/>
                    <a:lstStyle/>
                    <a:p>
                      <a:pPr>
                        <a:defRPr sz="900" b="0">
                          <a:solidFill>
                            <a:srgbClr val="1B2A4A"/>
                          </a:solidFill>
                        </a:defRPr>
                      </a:pPr>
                      <a:r>
                        <a:t>"enforces role-based access controls (RBAC)" and "periodic access reviews conducted" describes control actions, but includes excessive detail about systems and processes</a:t>
                      </a:r>
                    </a:p>
                  </a:txBody>
                  <a:tcPr>
                    <a:solidFill>
                      <a:srgbClr val="FAFAFA"/>
                    </a:solidFill>
                  </a:tcPr>
                </a:tc>
                <a:tc>
                  <a:txBody>
                    <a:bodyPr wrap="square"/>
                    <a:lstStyle/>
                    <a:p>
                      <a:pPr>
                        <a:defRPr sz="900" b="0">
                          <a:solidFill>
                            <a:srgbClr val="1B2A4A"/>
                          </a:solidFill>
                        </a:defRPr>
                      </a:pPr>
                      <a:r>
                        <a:t>enforces role-based access controls and conducts quarterly access reviews</a:t>
                      </a:r>
                    </a:p>
                  </a:txBody>
                  <a:tcPr>
                    <a:solidFill>
                      <a:srgbClr val="FAFAFA"/>
                    </a:solidFill>
                  </a:tcPr>
                </a:tc>
              </a:tr>
              <a:tr h="718457">
                <a:tc>
                  <a:txBody>
                    <a:bodyPr wrap="square"/>
                    <a:lstStyle/>
                    <a:p>
                      <a:pPr>
                        <a:defRPr sz="900" b="0">
                          <a:solidFill>
                            <a:srgbClr val="1B2A4A"/>
                          </a:solidFill>
                        </a:defRPr>
                      </a:pPr>
                      <a:r>
                        <a:t>When</a:t>
                      </a:r>
                    </a:p>
                  </a:txBody>
                  <a:tcPr>
                    <a:solidFill>
                      <a:srgbClr val="FFFFFF"/>
                    </a:solidFill>
                  </a:tcPr>
                </a:tc>
                <a:tc>
                  <a:txBody>
                    <a:bodyPr wrap="square"/>
                    <a:lstStyle/>
                    <a:p>
                      <a:pPr>
                        <a:defRPr sz="900" b="1">
                          <a:solidFill>
                            <a:srgbClr val="2E7D32"/>
                          </a:solidFill>
                        </a:defRPr>
                      </a:pPr>
                      <a:r>
                        <a:t>MEETS</a:t>
                      </a:r>
                    </a:p>
                  </a:txBody>
                  <a:tcPr>
                    <a:solidFill>
                      <a:srgbClr val="E8F5E9"/>
                    </a:solidFill>
                  </a:tcPr>
                </a:tc>
                <a:tc>
                  <a:txBody>
                    <a:bodyPr wrap="square"/>
                    <a:lstStyle/>
                    <a:p>
                      <a:pPr>
                        <a:defRPr sz="900" b="0">
                          <a:solidFill>
                            <a:srgbClr val="1B2A4A"/>
                          </a:solidFill>
                        </a:defRPr>
                      </a:pPr>
                      <a:r>
                        <a:t>"On an ongoing, continuous basis" and "no less than quarterly" specifies timing and frequency</a:t>
                      </a:r>
                    </a:p>
                  </a:txBody>
                  <a:tcPr>
                    <a:solidFill>
                      <a:srgbClr val="FFFFFF"/>
                    </a:solidFill>
                  </a:tcPr>
                </a:tc>
                <a:tc>
                  <a:txBody>
                    <a:bodyPr wrap="square"/>
                    <a:lstStyle/>
                    <a:p>
                      <a:pPr>
                        <a:defRPr sz="900" b="0">
                          <a:solidFill>
                            <a:srgbClr val="1B2A4A"/>
                          </a:solidFill>
                        </a:defRPr>
                      </a:pPr>
                      <a:r>
                        <a:t>N/A</a:t>
                      </a:r>
                    </a:p>
                  </a:txBody>
                  <a:tcPr>
                    <a:solidFill>
                      <a:srgbClr val="FFFFFF"/>
                    </a:solidFill>
                  </a:tcPr>
                </a:tc>
              </a:tr>
              <a:tr h="718457">
                <a:tc>
                  <a:txBody>
                    <a:bodyPr wrap="square"/>
                    <a:lstStyle/>
                    <a:p>
                      <a:pPr>
                        <a:defRPr sz="900" b="0">
                          <a:solidFill>
                            <a:srgbClr val="1B2A4A"/>
                          </a:solidFill>
                        </a:defRPr>
                      </a:pPr>
                      <a:r>
                        <a:t>How</a:t>
                      </a:r>
                    </a:p>
                  </a:txBody>
                  <a:tcPr>
                    <a:solidFill>
                      <a:srgbClr val="FAFAFA"/>
                    </a:solidFill>
                  </a:tcPr>
                </a:tc>
                <a:tc>
                  <a:txBody>
                    <a:bodyPr wrap="square"/>
                    <a:lstStyle/>
                    <a:p>
                      <a:pPr>
                        <a:defRPr sz="900" b="1">
                          <a:solidFill>
                            <a:srgbClr val="C62828"/>
                          </a:solidFill>
                        </a:defRPr>
                      </a:pPr>
                      <a:r>
                        <a:t>DOES NOT MEET</a:t>
                      </a:r>
                    </a:p>
                  </a:txBody>
                  <a:tcPr>
                    <a:solidFill>
                      <a:srgbClr val="FFEBEE"/>
                    </a:solidFill>
                  </a:tcPr>
                </a:tc>
                <a:tc>
                  <a:txBody>
                    <a:bodyPr wrap="square"/>
                    <a:lstStyle/>
                    <a:p>
                      <a:pPr>
                        <a:defRPr sz="900" b="0">
                          <a:solidFill>
                            <a:srgbClr val="1B2A4A"/>
                          </a:solidFill>
                        </a:defRPr>
                      </a:pPr>
                      <a:r>
                        <a:t>Describes the mechanism but fails to specify actions taken on exceptions or how violations are resolved</a:t>
                      </a:r>
                    </a:p>
                  </a:txBody>
                  <a:tcPr>
                    <a:solidFill>
                      <a:srgbClr val="FAFAFA"/>
                    </a:solidFill>
                  </a:tcPr>
                </a:tc>
                <a:tc>
                  <a:txBody>
                    <a:bodyPr wrap="square"/>
                    <a:lstStyle/>
                    <a:p>
                      <a:pPr>
                        <a:defRPr sz="900" b="0">
                          <a:solidFill>
                            <a:srgbClr val="1B2A4A"/>
                          </a:solidFill>
                        </a:defRPr>
                      </a:pPr>
                      <a:r>
                        <a:t>validates role segregation and escalates access violations to [PLACEHOLDER] for remediation</a:t>
                      </a:r>
                    </a:p>
                  </a:txBody>
                  <a:tcPr>
                    <a:solidFill>
                      <a:srgbClr val="FAFAFA"/>
                    </a:solidFill>
                  </a:tcPr>
                </a:tc>
              </a:tr>
              <a:tr h="718457">
                <a:tc>
                  <a:txBody>
                    <a:bodyPr wrap="square"/>
                    <a:lstStyle/>
                    <a:p>
                      <a:pPr>
                        <a:defRPr sz="900" b="0">
                          <a:solidFill>
                            <a:srgbClr val="1B2A4A"/>
                          </a:solidFill>
                        </a:defRPr>
                      </a:pPr>
                      <a:r>
                        <a:t>Why</a:t>
                      </a:r>
                    </a:p>
                  </a:txBody>
                  <a:tcPr>
                    <a:solidFill>
                      <a:srgbClr val="FFFFFF"/>
                    </a:solidFill>
                  </a:tcPr>
                </a:tc>
                <a:tc>
                  <a:txBody>
                    <a:bodyPr wrap="square"/>
                    <a:lstStyle/>
                    <a:p>
                      <a:pPr>
                        <a:defRPr sz="900" b="1">
                          <a:solidFill>
                            <a:srgbClr val="C62828"/>
                          </a:solidFill>
                        </a:defRPr>
                      </a:pPr>
                      <a:r>
                        <a:t>DOES NOT MEET</a:t>
                      </a:r>
                    </a:p>
                  </a:txBody>
                  <a:tcPr>
                    <a:solidFill>
                      <a:srgbClr val="FFEBEE"/>
                    </a:solidFill>
                  </a:tcPr>
                </a:tc>
                <a:tc>
                  <a:txBody>
                    <a:bodyPr wrap="square"/>
                    <a:lstStyle/>
                    <a:p>
                      <a:pPr>
                        <a:defRPr sz="900" b="0">
                          <a:solidFill>
                            <a:srgbClr val="1B2A4A"/>
                          </a:solidFill>
                        </a:defRPr>
                      </a:pPr>
                      <a:r>
                        <a:t>Does not explain why role segregation is necessary or what risk is being mitigated</a:t>
                      </a:r>
                    </a:p>
                  </a:txBody>
                  <a:tcPr>
                    <a:solidFill>
                      <a:srgbClr val="FFFFFF"/>
                    </a:solidFill>
                  </a:tcPr>
                </a:tc>
                <a:tc>
                  <a:txBody>
                    <a:bodyPr wrap="square"/>
                    <a:lstStyle/>
                    <a:p>
                      <a:pPr>
                        <a:defRPr sz="900" b="0">
                          <a:solidFill>
                            <a:srgbClr val="1B2A4A"/>
                          </a:solidFill>
                        </a:defRPr>
                      </a:pPr>
                      <a:r>
                        <a:t>to prevent unauthorized transactions and financial misstatement through segregation of duties</a:t>
                      </a:r>
                    </a:p>
                  </a:txBody>
                  <a:tcPr>
                    <a:solidFill>
                      <a:srgbClr val="FFFFFF"/>
                    </a:solidFill>
                  </a:tcPr>
                </a:tc>
              </a:tr>
              <a:tr h="718458">
                <a:tc>
                  <a:txBody>
                    <a:bodyPr wrap="square"/>
                    <a:lstStyle/>
                    <a:p>
                      <a:pPr>
                        <a:defRPr sz="900" b="0">
                          <a:solidFill>
                            <a:srgbClr val="1B2A4A"/>
                          </a:solidFill>
                        </a:defRPr>
                      </a:pPr>
                      <a:r>
                        <a:t>Evidence</a:t>
                      </a:r>
                    </a:p>
                  </a:txBody>
                  <a:tcPr>
                    <a:solidFill>
                      <a:srgbClr val="FAFAFA"/>
                    </a:solidFill>
                  </a:tcPr>
                </a:tc>
                <a:tc>
                  <a:txBody>
                    <a:bodyPr wrap="square"/>
                    <a:lstStyle/>
                    <a:p>
                      <a:pPr>
                        <a:defRPr sz="900" b="1">
                          <a:solidFill>
                            <a:srgbClr val="C62828"/>
                          </a:solidFill>
                        </a:defRPr>
                      </a:pPr>
                      <a:r>
                        <a:t>DOES NOT MEET</a:t>
                      </a:r>
                    </a:p>
                  </a:txBody>
                  <a:tcPr>
                    <a:solidFill>
                      <a:srgbClr val="FFEBEE"/>
                    </a:solidFill>
                  </a:tcPr>
                </a:tc>
                <a:tc>
                  <a:txBody>
                    <a:bodyPr wrap="square"/>
                    <a:lstStyle/>
                    <a:p>
                      <a:pPr>
                        <a:defRPr sz="900" b="0">
                          <a:solidFill>
                            <a:srgbClr val="1B2A4A"/>
                          </a:solidFill>
                        </a:defRPr>
                      </a:pPr>
                      <a:r>
                        <a:t>No documentation, system evidence, or storage location specified</a:t>
                      </a:r>
                    </a:p>
                  </a:txBody>
                  <a:tcPr>
                    <a:solidFill>
                      <a:srgbClr val="FAFAFA"/>
                    </a:solidFill>
                  </a:tcPr>
                </a:tc>
                <a:tc>
                  <a:txBody>
                    <a:bodyPr wrap="square"/>
                    <a:lstStyle/>
                    <a:p>
                      <a:pPr>
                        <a:defRPr sz="900" b="0">
                          <a:solidFill>
                            <a:srgbClr val="1B2A4A"/>
                          </a:solidFill>
                        </a:defRPr>
                      </a:pPr>
                      <a:r>
                        <a:t>Evidence maintained in [PLACEHOLDER] access review reports</a:t>
                      </a:r>
                    </a:p>
                  </a:txBody>
                  <a:tcPr>
                    <a:solidFill>
                      <a:srgbClr val="FAFA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9144000" cy="457200"/>
          </a:xfrm>
          <a:prstGeom prst="rect">
            <a:avLst/>
          </a:prstGeom>
          <a:noFill/>
        </p:spPr>
        <p:txBody>
          <a:bodyPr wrap="square">
            <a:spAutoFit/>
          </a:bodyPr>
          <a:lstStyle/>
          <a:p>
            <a:pPr algn="l">
              <a:defRPr sz="2400" b="1">
                <a:solidFill>
                  <a:srgbClr val="1B2A4A"/>
                </a:solidFill>
              </a:defRPr>
            </a:pPr>
            <a:r>
              <a:t>Overall Assessment</a:t>
            </a:r>
          </a:p>
        </p:txBody>
      </p:sp>
      <p:sp>
        <p:nvSpPr>
          <p:cNvPr id="3" name="Rectangle 2"/>
          <p:cNvSpPr/>
          <p:nvPr/>
        </p:nvSpPr>
        <p:spPr>
          <a:xfrm>
            <a:off x="457200" y="1097280"/>
            <a:ext cx="3474720"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52144"/>
            <a:ext cx="3474720" cy="4114800"/>
          </a:xfrm>
          <a:prstGeom prst="rect">
            <a:avLst/>
          </a:prstGeom>
          <a:solidFill>
            <a:srgbClr val="FFFFFF"/>
          </a:solidFill>
          <a:ln>
            <a:solidFill>
              <a:srgbClr val="F5F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2926080" cy="365760"/>
          </a:xfrm>
          <a:prstGeom prst="rect">
            <a:avLst/>
          </a:prstGeom>
          <a:noFill/>
        </p:spPr>
        <p:txBody>
          <a:bodyPr wrap="square">
            <a:spAutoFit/>
          </a:bodyPr>
          <a:lstStyle/>
          <a:p>
            <a:pPr algn="l">
              <a:defRPr sz="1200" b="1">
                <a:solidFill>
                  <a:srgbClr val="1B2A4A"/>
                </a:solidFill>
              </a:defRPr>
            </a:pPr>
            <a:r>
              <a:t>Overall Assessment</a:t>
            </a:r>
          </a:p>
        </p:txBody>
      </p:sp>
      <p:sp>
        <p:nvSpPr>
          <p:cNvPr id="6" name="TextBox 5"/>
          <p:cNvSpPr txBox="1"/>
          <p:nvPr/>
        </p:nvSpPr>
        <p:spPr>
          <a:xfrm>
            <a:off x="731520" y="1737360"/>
            <a:ext cx="2926080" cy="548640"/>
          </a:xfrm>
          <a:prstGeom prst="rect">
            <a:avLst/>
          </a:prstGeom>
          <a:noFill/>
        </p:spPr>
        <p:txBody>
          <a:bodyPr wrap="square">
            <a:spAutoFit/>
          </a:bodyPr>
          <a:lstStyle/>
          <a:p>
            <a:pPr algn="ctr">
              <a:defRPr sz="2000" b="1">
                <a:solidFill>
                  <a:srgbClr val="C62828"/>
                </a:solidFill>
              </a:defRPr>
            </a:pPr>
            <a:r>
              <a:t>DOES NOT MEET</a:t>
            </a:r>
          </a:p>
        </p:txBody>
      </p:sp>
      <p:sp>
        <p:nvSpPr>
          <p:cNvPr id="7" name="TextBox 6"/>
          <p:cNvSpPr txBox="1"/>
          <p:nvPr/>
        </p:nvSpPr>
        <p:spPr>
          <a:xfrm>
            <a:off x="731520" y="2468880"/>
            <a:ext cx="2926080" cy="2468880"/>
          </a:xfrm>
          <a:prstGeom prst="rect">
            <a:avLst/>
          </a:prstGeom>
          <a:noFill/>
        </p:spPr>
        <p:txBody>
          <a:bodyPr wrap="square">
            <a:spAutoFit/>
          </a:bodyPr>
          <a:lstStyle/>
          <a:p>
            <a:pPr algn="l">
              <a:defRPr sz="900" b="0">
                <a:solidFill>
                  <a:srgbClr val="616161"/>
                </a:solidFill>
              </a:defRPr>
            </a:pPr>
            <a:r>
              <a:t>Control fails to meet 3 of 6 standards (How, Why, Evidence) and partially meets 1 standard (What), lacking critical information about exception handling, risk rationale, and evidence documentation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pPr algn="l">
              <a:defRPr sz="2400" b="1">
                <a:solidFill>
                  <a:srgbClr val="1B2A4A"/>
                </a:solidFill>
              </a:defRPr>
            </a:pPr>
            <a:r>
              <a:t>Recommended Control Description Revision</a:t>
            </a:r>
          </a:p>
        </p:txBody>
      </p:sp>
      <p:sp>
        <p:nvSpPr>
          <p:cNvPr id="3" name="Rectangle 2"/>
          <p:cNvSpPr/>
          <p:nvPr/>
        </p:nvSpPr>
        <p:spPr>
          <a:xfrm>
            <a:off x="457200" y="1097280"/>
            <a:ext cx="54864" cy="5029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5303520" cy="274320"/>
          </a:xfrm>
          <a:prstGeom prst="rect">
            <a:avLst/>
          </a:prstGeom>
          <a:noFill/>
        </p:spPr>
        <p:txBody>
          <a:bodyPr wrap="square">
            <a:spAutoFit/>
          </a:bodyPr>
          <a:lstStyle/>
          <a:p>
            <a:pPr algn="l">
              <a:defRPr sz="900" b="1">
                <a:solidFill>
                  <a:srgbClr val="C62828"/>
                </a:solidFill>
              </a:defRPr>
            </a:pPr>
            <a:r>
              <a:t>ORIGINAL CONTROL DESCRIPTION</a:t>
            </a:r>
          </a:p>
        </p:txBody>
      </p:sp>
      <p:sp>
        <p:nvSpPr>
          <p:cNvPr id="5" name="TextBox 4"/>
          <p:cNvSpPr txBox="1"/>
          <p:nvPr/>
        </p:nvSpPr>
        <p:spPr>
          <a:xfrm>
            <a:off x="640080" y="1554480"/>
            <a:ext cx="5303520" cy="4572000"/>
          </a:xfrm>
          <a:prstGeom prst="rect">
            <a:avLst/>
          </a:prstGeom>
          <a:noFill/>
        </p:spPr>
        <p:txBody>
          <a:bodyPr wrap="square">
            <a:spAutoFit/>
          </a:bodyPr>
          <a:lstStyle/>
          <a:p>
            <a:pPr algn="l">
              <a:defRPr sz="1000" b="0">
                <a:solidFill>
                  <a:srgbClr val="1B2A4A"/>
                </a:solidFill>
              </a:defRPr>
            </a:pPr>
            <a:r>
              <a:t>On an ongoing, continuous basis, the Access Management team in coordination with the first-line Business Risk Officer enforces role-based access controls (RBAC) to ensure that the initiation, authorization, recording, and reconciliation of financial transactions are assigned to separate and distinct individuals, with periodic access reviews conducted no less than quarterly to validate continued role segregation, using the institution's Identity and Access Management (IAM) platform and core banking transaction processing system access control modules to ensure no single employee retains end-to-end control over a transaction lifecycle in a manner that could enable the execution or concealment of unauthorized transactions or financial misstatement</a:t>
            </a:r>
          </a:p>
        </p:txBody>
      </p:sp>
      <p:sp>
        <p:nvSpPr>
          <p:cNvPr id="6" name="Rectangle 5"/>
          <p:cNvSpPr/>
          <p:nvPr/>
        </p:nvSpPr>
        <p:spPr>
          <a:xfrm>
            <a:off x="6400800" y="1097280"/>
            <a:ext cx="54864" cy="5029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097280"/>
            <a:ext cx="5303520" cy="274320"/>
          </a:xfrm>
          <a:prstGeom prst="rect">
            <a:avLst/>
          </a:prstGeom>
          <a:noFill/>
        </p:spPr>
        <p:txBody>
          <a:bodyPr wrap="square">
            <a:spAutoFit/>
          </a:bodyPr>
          <a:lstStyle/>
          <a:p>
            <a:pPr algn="l">
              <a:defRPr sz="900" b="1">
                <a:solidFill>
                  <a:srgbClr val="2E7D32"/>
                </a:solidFill>
              </a:defRPr>
            </a:pPr>
            <a:r>
              <a:t>FULLY REVISED CONTROL DESCRIPTION</a:t>
            </a:r>
          </a:p>
        </p:txBody>
      </p:sp>
      <p:sp>
        <p:nvSpPr>
          <p:cNvPr id="8" name="TextBox 7"/>
          <p:cNvSpPr txBox="1"/>
          <p:nvPr/>
        </p:nvSpPr>
        <p:spPr>
          <a:xfrm>
            <a:off x="6583680" y="1554480"/>
            <a:ext cx="5303520" cy="4572000"/>
          </a:xfrm>
          <a:prstGeom prst="rect">
            <a:avLst/>
          </a:prstGeom>
          <a:noFill/>
        </p:spPr>
        <p:txBody>
          <a:bodyPr wrap="square">
            <a:spAutoFit/>
          </a:bodyPr>
          <a:lstStyle/>
          <a:p>
            <a:pPr algn="l">
              <a:defRPr sz="1000" b="0">
                <a:solidFill>
                  <a:srgbClr val="1B2A4A"/>
                </a:solidFill>
              </a:defRPr>
            </a:pPr>
            <a:r>
              <a:t>To prevent unauthorized transactions and financial misstatement through segregation of duties, the Access Management team in coordination with the first-line Business Risk Officer enforces role-based access controls ensuring transaction initiation, authorization, recording, and reconciliation are assigned to separate individuals. The team conducts quarterly access reviews to validate continued role segregation using the IAM platform. Access violations are escalated to [PLACEHOLDER] for immediate remediation. Evidence is maintained in [PLACEHOLDER] access review reports.</a:t>
            </a:r>
          </a:p>
        </p:txBody>
      </p:sp>
      <p:sp>
        <p:nvSpPr>
          <p:cNvPr id="9" name="TextBox 8"/>
          <p:cNvSpPr txBox="1"/>
          <p:nvPr/>
        </p:nvSpPr>
        <p:spPr>
          <a:xfrm>
            <a:off x="457200" y="6217920"/>
            <a:ext cx="10972800" cy="365760"/>
          </a:xfrm>
          <a:prstGeom prst="rect">
            <a:avLst/>
          </a:prstGeom>
          <a:noFill/>
        </p:spPr>
        <p:txBody>
          <a:bodyPr wrap="square">
            <a:spAutoFit/>
          </a:bodyPr>
          <a:lstStyle/>
          <a:p>
            <a:pPr algn="l">
              <a:defRPr sz="900" b="1">
                <a:solidFill>
                  <a:srgbClr val="E65100"/>
                </a:solidFill>
              </a:defRPr>
            </a:pPr>
            <a:r>
              <a:t>⚠ Action required: 2 placeholder(s) must be resolved by the control owner.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457200"/>
          </a:xfrm>
          <a:prstGeom prst="rect">
            <a:avLst/>
          </a:prstGeom>
          <a:noFill/>
        </p:spPr>
        <p:txBody>
          <a:bodyPr wrap="square">
            <a:spAutoFit/>
          </a:bodyPr>
          <a:lstStyle/>
          <a:p>
            <a:pPr algn="l">
              <a:defRPr sz="2400" b="1">
                <a:solidFill>
                  <a:srgbClr val="1B2A4A"/>
                </a:solidFill>
              </a:defRPr>
            </a:pPr>
            <a:r>
              <a:t>Next Steps &amp; Action Items</a:t>
            </a:r>
          </a:p>
        </p:txBody>
      </p:sp>
      <p:graphicFrame>
        <p:nvGraphicFramePr>
          <p:cNvPr id="3" name="Table 2"/>
          <p:cNvGraphicFramePr>
            <a:graphicFrameLocks noGrp="1"/>
          </p:cNvGraphicFramePr>
          <p:nvPr/>
        </p:nvGraphicFramePr>
        <p:xfrm>
          <a:off x="457200" y="1097280"/>
          <a:ext cx="11247120" cy="3657600"/>
        </p:xfrm>
        <a:graphic>
          <a:graphicData uri="http://schemas.openxmlformats.org/drawingml/2006/table">
            <a:tbl>
              <a:tblPr firstRow="1" bandRow="1">
                <a:tableStyleId>{5C22544A-7EE6-4342-B048-85BDC9FD1C3A}</a:tableStyleId>
              </a:tblPr>
              <a:tblGrid>
                <a:gridCol w="6858000"/>
                <a:gridCol w="2194560"/>
                <a:gridCol w="2194560"/>
              </a:tblGrid>
              <a:tr h="457200">
                <a:tc>
                  <a:txBody>
                    <a:bodyPr wrap="square"/>
                    <a:lstStyle/>
                    <a:p>
                      <a:pPr>
                        <a:defRPr sz="1000" b="1">
                          <a:solidFill>
                            <a:srgbClr val="FFFFFF"/>
                          </a:solidFill>
                        </a:defRPr>
                      </a:pPr>
                      <a:r>
                        <a:t>Action</a:t>
                      </a:r>
                    </a:p>
                  </a:txBody>
                  <a:tcPr>
                    <a:solidFill>
                      <a:srgbClr val="1B2A4A"/>
                    </a:solidFill>
                  </a:tcPr>
                </a:tc>
                <a:tc>
                  <a:txBody>
                    <a:bodyPr wrap="square"/>
                    <a:lstStyle/>
                    <a:p>
                      <a:pPr>
                        <a:defRPr sz="1000" b="1">
                          <a:solidFill>
                            <a:srgbClr val="FFFFFF"/>
                          </a:solidFill>
                        </a:defRPr>
                      </a:pPr>
                      <a:r>
                        <a:t>Owner</a:t>
                      </a:r>
                    </a:p>
                  </a:txBody>
                  <a:tcPr>
                    <a:solidFill>
                      <a:srgbClr val="1B2A4A"/>
                    </a:solidFill>
                  </a:tcPr>
                </a:tc>
                <a:tc>
                  <a:txBody>
                    <a:bodyPr wrap="square"/>
                    <a:lstStyle/>
                    <a:p>
                      <a:pPr>
                        <a:defRPr sz="1000" b="1">
                          <a:solidFill>
                            <a:srgbClr val="FFFFFF"/>
                          </a:solidFill>
                        </a:defRPr>
                      </a:pPr>
                      <a:r>
                        <a:t>Priority</a:t>
                      </a:r>
                    </a:p>
                  </a:txBody>
                  <a:tcPr>
                    <a:solidFill>
                      <a:srgbClr val="1B2A4A"/>
                    </a:solidFill>
                  </a:tcPr>
                </a:tc>
              </a:tr>
              <a:tr h="457200">
                <a:tc>
                  <a:txBody>
                    <a:bodyPr wrap="square"/>
                    <a:lstStyle/>
                    <a:p>
                      <a:pPr>
                        <a:defRPr sz="900" b="0">
                          <a:solidFill>
                            <a:srgbClr val="1B2A4A"/>
                          </a:solidFill>
                        </a:defRPr>
                      </a:pPr>
                      <a:r>
                        <a:t>Strengthen What language</a:t>
                      </a:r>
                    </a:p>
                  </a:txBody>
                  <a:tcPr>
                    <a:solidFill>
                      <a:srgbClr val="FFFFFF"/>
                    </a:solidFill>
                  </a:tcPr>
                </a:tc>
                <a:tc>
                  <a:txBody>
                    <a:bodyPr wrap="square"/>
                    <a:lstStyle/>
                    <a:p>
                      <a:pPr>
                        <a:defRPr sz="900" b="0">
                          <a:solidFill>
                            <a:srgbClr val="1B2A4A"/>
                          </a:solidFill>
                        </a:defRPr>
                      </a:pPr>
                      <a:r>
                        <a:t>Control Owner</a:t>
                      </a:r>
                    </a:p>
                  </a:txBody>
                  <a:tcPr>
                    <a:solidFill>
                      <a:srgbClr val="FFFFFF"/>
                    </a:solidFill>
                  </a:tcPr>
                </a:tc>
                <a:tc>
                  <a:txBody>
                    <a:bodyPr wrap="square"/>
                    <a:lstStyle/>
                    <a:p>
                      <a:pPr>
                        <a:defRPr sz="900" b="1">
                          <a:solidFill>
                            <a:srgbClr val="E65100"/>
                          </a:solidFill>
                        </a:defRPr>
                      </a:pPr>
                      <a:r>
                        <a:t>MEDIUM</a:t>
                      </a:r>
                    </a:p>
                  </a:txBody>
                  <a:tcPr>
                    <a:solidFill>
                      <a:srgbClr val="FFFFFF"/>
                    </a:solidFill>
                  </a:tcPr>
                </a:tc>
              </a:tr>
              <a:tr h="457200">
                <a:tc>
                  <a:txBody>
                    <a:bodyPr wrap="square"/>
                    <a:lstStyle/>
                    <a:p>
                      <a:pPr>
                        <a:defRPr sz="900" b="0">
                          <a:solidFill>
                            <a:srgbClr val="1B2A4A"/>
                          </a:solidFill>
                        </a:defRPr>
                      </a:pPr>
                      <a:r>
                        <a:t>Revise control to address How</a:t>
                      </a:r>
                    </a:p>
                  </a:txBody>
                  <a:tcPr>
                    <a:solidFill>
                      <a:srgbClr val="FAFAFA"/>
                    </a:solidFill>
                  </a:tcPr>
                </a:tc>
                <a:tc>
                  <a:txBody>
                    <a:bodyPr wrap="square"/>
                    <a:lstStyle/>
                    <a:p>
                      <a:pPr>
                        <a:defRPr sz="900" b="0">
                          <a:solidFill>
                            <a:srgbClr val="1B2A4A"/>
                          </a:solidFill>
                        </a:defRPr>
                      </a:pPr>
                      <a:r>
                        <a:t>Control Owner</a:t>
                      </a:r>
                    </a:p>
                  </a:txBody>
                  <a:tcPr>
                    <a:solidFill>
                      <a:srgbClr val="FAFAFA"/>
                    </a:solidFill>
                  </a:tcPr>
                </a:tc>
                <a:tc>
                  <a:txBody>
                    <a:bodyPr wrap="square"/>
                    <a:lstStyle/>
                    <a:p>
                      <a:pPr>
                        <a:defRPr sz="900" b="1">
                          <a:solidFill>
                            <a:srgbClr val="C62828"/>
                          </a:solidFill>
                        </a:defRPr>
                      </a:pPr>
                      <a:r>
                        <a:t>HIGH</a:t>
                      </a:r>
                    </a:p>
                  </a:txBody>
                  <a:tcPr>
                    <a:solidFill>
                      <a:srgbClr val="FAFAFA"/>
                    </a:solidFill>
                  </a:tcPr>
                </a:tc>
              </a:tr>
              <a:tr h="457200">
                <a:tc>
                  <a:txBody>
                    <a:bodyPr wrap="square"/>
                    <a:lstStyle/>
                    <a:p>
                      <a:pPr>
                        <a:defRPr sz="900" b="0">
                          <a:solidFill>
                            <a:srgbClr val="1B2A4A"/>
                          </a:solidFill>
                        </a:defRPr>
                      </a:pPr>
                      <a:r>
                        <a:t>Revise control to address Why</a:t>
                      </a:r>
                    </a:p>
                  </a:txBody>
                  <a:tcPr>
                    <a:solidFill>
                      <a:srgbClr val="FFFFFF"/>
                    </a:solidFill>
                  </a:tcPr>
                </a:tc>
                <a:tc>
                  <a:txBody>
                    <a:bodyPr wrap="square"/>
                    <a:lstStyle/>
                    <a:p>
                      <a:pPr>
                        <a:defRPr sz="900" b="0">
                          <a:solidFill>
                            <a:srgbClr val="1B2A4A"/>
                          </a:solidFill>
                        </a:defRPr>
                      </a:pPr>
                      <a:r>
                        <a:t>Control Owner</a:t>
                      </a:r>
                    </a:p>
                  </a:txBody>
                  <a:tcPr>
                    <a:solidFill>
                      <a:srgbClr val="FFFFFF"/>
                    </a:solidFill>
                  </a:tcPr>
                </a:tc>
                <a:tc>
                  <a:txBody>
                    <a:bodyPr wrap="square"/>
                    <a:lstStyle/>
                    <a:p>
                      <a:pPr>
                        <a:defRPr sz="900" b="1">
                          <a:solidFill>
                            <a:srgbClr val="C62828"/>
                          </a:solidFill>
                        </a:defRPr>
                      </a:pPr>
                      <a:r>
                        <a:t>HIGH</a:t>
                      </a:r>
                    </a:p>
                  </a:txBody>
                  <a:tcPr>
                    <a:solidFill>
                      <a:srgbClr val="FFFFFF"/>
                    </a:solidFill>
                  </a:tcPr>
                </a:tc>
              </a:tr>
              <a:tr h="457200">
                <a:tc>
                  <a:txBody>
                    <a:bodyPr wrap="square"/>
                    <a:lstStyle/>
                    <a:p>
                      <a:pPr>
                        <a:defRPr sz="900" b="0">
                          <a:solidFill>
                            <a:srgbClr val="1B2A4A"/>
                          </a:solidFill>
                        </a:defRPr>
                      </a:pPr>
                      <a:r>
                        <a:t>Revise control to address Evidence</a:t>
                      </a:r>
                    </a:p>
                  </a:txBody>
                  <a:tcPr>
                    <a:solidFill>
                      <a:srgbClr val="FAFAFA"/>
                    </a:solidFill>
                  </a:tcPr>
                </a:tc>
                <a:tc>
                  <a:txBody>
                    <a:bodyPr wrap="square"/>
                    <a:lstStyle/>
                    <a:p>
                      <a:pPr>
                        <a:defRPr sz="900" b="0">
                          <a:solidFill>
                            <a:srgbClr val="1B2A4A"/>
                          </a:solidFill>
                        </a:defRPr>
                      </a:pPr>
                      <a:r>
                        <a:t>Control Owner</a:t>
                      </a:r>
                    </a:p>
                  </a:txBody>
                  <a:tcPr>
                    <a:solidFill>
                      <a:srgbClr val="FAFAFA"/>
                    </a:solidFill>
                  </a:tcPr>
                </a:tc>
                <a:tc>
                  <a:txBody>
                    <a:bodyPr wrap="square"/>
                    <a:lstStyle/>
                    <a:p>
                      <a:pPr>
                        <a:defRPr sz="900" b="1">
                          <a:solidFill>
                            <a:srgbClr val="C62828"/>
                          </a:solidFill>
                        </a:defRPr>
                      </a:pPr>
                      <a:r>
                        <a:t>HIGH</a:t>
                      </a:r>
                    </a:p>
                  </a:txBody>
                  <a:tcPr>
                    <a:solidFill>
                      <a:srgbClr val="FAFAFA"/>
                    </a:solidFill>
                  </a:tcPr>
                </a:tc>
              </a:tr>
              <a:tr h="457200">
                <a:tc>
                  <a:txBody>
                    <a:bodyPr wrap="square"/>
                    <a:lstStyle/>
                    <a:p>
                      <a:pPr>
                        <a:defRPr sz="900" b="0">
                          <a:solidFill>
                            <a:srgbClr val="1B2A4A"/>
                          </a:solidFill>
                        </a:defRPr>
                      </a:pPr>
                      <a:r>
                        <a:t>Supply missing placeholder details</a:t>
                      </a:r>
                    </a:p>
                  </a:txBody>
                  <a:tcPr>
                    <a:solidFill>
                      <a:srgbClr val="FFFFFF"/>
                    </a:solidFill>
                  </a:tcPr>
                </a:tc>
                <a:tc>
                  <a:txBody>
                    <a:bodyPr wrap="square"/>
                    <a:lstStyle/>
                    <a:p>
                      <a:pPr>
                        <a:defRPr sz="900" b="0">
                          <a:solidFill>
                            <a:srgbClr val="1B2A4A"/>
                          </a:solidFill>
                        </a:defRPr>
                      </a:pPr>
                      <a:r>
                        <a:t>Control Owner</a:t>
                      </a:r>
                    </a:p>
                  </a:txBody>
                  <a:tcPr>
                    <a:solidFill>
                      <a:srgbClr val="FFFFFF"/>
                    </a:solidFill>
                  </a:tcPr>
                </a:tc>
                <a:tc>
                  <a:txBody>
                    <a:bodyPr wrap="square"/>
                    <a:lstStyle/>
                    <a:p>
                      <a:pPr>
                        <a:defRPr sz="900" b="1">
                          <a:solidFill>
                            <a:srgbClr val="C62828"/>
                          </a:solidFill>
                        </a:defRPr>
                      </a:pPr>
                      <a:r>
                        <a:t>HIGH</a:t>
                      </a:r>
                    </a:p>
                  </a:txBody>
                  <a:tcPr>
                    <a:solidFill>
                      <a:srgbClr val="FFFFFF"/>
                    </a:solidFill>
                  </a:tcPr>
                </a:tc>
              </a:tr>
              <a:tr h="457200">
                <a:tc>
                  <a:txBody>
                    <a:bodyPr wrap="square"/>
                    <a:lstStyle/>
                    <a:p>
                      <a:pPr>
                        <a:defRPr sz="900" b="0">
                          <a:solidFill>
                            <a:srgbClr val="1B2A4A"/>
                          </a:solidFill>
                        </a:defRPr>
                      </a:pPr>
                      <a:r>
                        <a:t>Review revised description against RCSA system of record</a:t>
                      </a:r>
                    </a:p>
                  </a:txBody>
                  <a:tcPr>
                    <a:solidFill>
                      <a:srgbClr val="FAFAFA"/>
                    </a:solidFill>
                  </a:tcPr>
                </a:tc>
                <a:tc>
                  <a:txBody>
                    <a:bodyPr wrap="square"/>
                    <a:lstStyle/>
                    <a:p>
                      <a:pPr>
                        <a:defRPr sz="900" b="0">
                          <a:solidFill>
                            <a:srgbClr val="1B2A4A"/>
                          </a:solidFill>
                        </a:defRPr>
                      </a:pPr>
                      <a:r>
                        <a:t>Risk Manager</a:t>
                      </a:r>
                    </a:p>
                  </a:txBody>
                  <a:tcPr>
                    <a:solidFill>
                      <a:srgbClr val="FAFAFA"/>
                    </a:solidFill>
                  </a:tcPr>
                </a:tc>
                <a:tc>
                  <a:txBody>
                    <a:bodyPr wrap="square"/>
                    <a:lstStyle/>
                    <a:p>
                      <a:pPr>
                        <a:defRPr sz="900" b="1">
                          <a:solidFill>
                            <a:srgbClr val="E65100"/>
                          </a:solidFill>
                        </a:defRPr>
                      </a:pPr>
                      <a:r>
                        <a:t>MEDIUM</a:t>
                      </a:r>
                    </a:p>
                  </a:txBody>
                  <a:tcPr>
                    <a:solidFill>
                      <a:srgbClr val="FAFAFA"/>
                    </a:solidFill>
                  </a:tcPr>
                </a:tc>
              </a:tr>
              <a:tr h="457200">
                <a:tc>
                  <a:txBody>
                    <a:bodyPr wrap="square"/>
                    <a:lstStyle/>
                    <a:p>
                      <a:pPr>
                        <a:defRPr sz="900" b="0">
                          <a:solidFill>
                            <a:srgbClr val="1B2A4A"/>
                          </a:solidFill>
                        </a:defRPr>
                      </a:pPr>
                      <a:r>
                        <a:t>Re-run automated QC validation after revision</a:t>
                      </a:r>
                    </a:p>
                  </a:txBody>
                  <a:tcPr>
                    <a:solidFill>
                      <a:srgbClr val="FFFFFF"/>
                    </a:solidFill>
                  </a:tcPr>
                </a:tc>
                <a:tc>
                  <a:txBody>
                    <a:bodyPr wrap="square"/>
                    <a:lstStyle/>
                    <a:p>
                      <a:pPr>
                        <a:defRPr sz="900" b="0">
                          <a:solidFill>
                            <a:srgbClr val="1B2A4A"/>
                          </a:solidFill>
                        </a:defRPr>
                      </a:pPr>
                      <a:r>
                        <a:t>Internal Audit</a:t>
                      </a:r>
                    </a:p>
                  </a:txBody>
                  <a:tcPr>
                    <a:solidFill>
                      <a:srgbClr val="FFFFFF"/>
                    </a:solidFill>
                  </a:tcPr>
                </a:tc>
                <a:tc>
                  <a:txBody>
                    <a:bodyPr wrap="square"/>
                    <a:lstStyle/>
                    <a:p>
                      <a:pPr>
                        <a:defRPr sz="900" b="1">
                          <a:solidFill>
                            <a:srgbClr val="616161"/>
                          </a:solidFill>
                        </a:defRPr>
                      </a:pPr>
                      <a:r>
                        <a:t>LOW</a:t>
                      </a:r>
                    </a:p>
                  </a:txBody>
                  <a:tcPr>
                    <a:solidFill>
                      <a:srgbClr val="FFFFFF"/>
                    </a:solidFill>
                  </a:tcPr>
                </a:tc>
              </a:tr>
            </a:tbl>
          </a:graphicData>
        </a:graphic>
      </p:graphicFrame>
      <p:sp>
        <p:nvSpPr>
          <p:cNvPr id="4" name="TextBox 3"/>
          <p:cNvSpPr txBox="1"/>
          <p:nvPr/>
        </p:nvSpPr>
        <p:spPr>
          <a:xfrm>
            <a:off x="457200" y="5943600"/>
            <a:ext cx="10972800" cy="365760"/>
          </a:xfrm>
          <a:prstGeom prst="rect">
            <a:avLst/>
          </a:prstGeom>
          <a:noFill/>
        </p:spPr>
        <p:txBody>
          <a:bodyPr wrap="square">
            <a:spAutoFit/>
          </a:bodyPr>
          <a:lstStyle/>
          <a:p>
            <a:pPr algn="l">
              <a:defRPr sz="900" b="1">
                <a:solidFill>
                  <a:srgbClr val="1B2A4A"/>
                </a:solidFill>
              </a:defRPr>
            </a:pPr>
            <a:r>
              <a:t>All HIGH-priority actions must be completed before the next RCSA cycle.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